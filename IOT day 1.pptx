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6" r:id="rId5"/>
    <p:sldId id="257" r:id="rId6"/>
    <p:sldId id="260" r:id="rId7"/>
    <p:sldId id="261" r:id="rId8"/>
    <p:sldId id="262" r:id="rId9"/>
    <p:sldId id="2463" r:id="rId10"/>
    <p:sldId id="2464" r:id="rId11"/>
    <p:sldId id="263" r:id="rId12"/>
    <p:sldId id="2462" r:id="rId13"/>
    <p:sldId id="289" r:id="rId14"/>
    <p:sldId id="2465" r:id="rId15"/>
    <p:sldId id="2466" r:id="rId16"/>
    <p:sldId id="2467" r:id="rId17"/>
    <p:sldId id="2468" r:id="rId18"/>
    <p:sldId id="2469" r:id="rId19"/>
    <p:sldId id="2470" r:id="rId20"/>
    <p:sldId id="266" r:id="rId21"/>
    <p:sldId id="2472" r:id="rId22"/>
    <p:sldId id="2474" r:id="rId23"/>
    <p:sldId id="2473" r:id="rId24"/>
    <p:sldId id="2475" r:id="rId25"/>
    <p:sldId id="2477" r:id="rId26"/>
    <p:sldId id="2478" r:id="rId27"/>
    <p:sldId id="2479" r:id="rId28"/>
    <p:sldId id="2481" r:id="rId29"/>
    <p:sldId id="2487" r:id="rId30"/>
    <p:sldId id="2489" r:id="rId31"/>
    <p:sldId id="2488" r:id="rId32"/>
    <p:sldId id="2490" r:id="rId33"/>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712" autoAdjust="0"/>
  </p:normalViewPr>
  <p:slideViewPr>
    <p:cSldViewPr snapToGrid="0">
      <p:cViewPr varScale="1">
        <p:scale>
          <a:sx n="104" d="100"/>
          <a:sy n="104" d="100"/>
        </p:scale>
        <p:origin x="216" y="80"/>
      </p:cViewPr>
      <p:guideLst/>
    </p:cSldViewPr>
  </p:slideViewPr>
  <p:notesTextViewPr>
    <p:cViewPr>
      <p:scale>
        <a:sx n="1" d="1"/>
        <a:sy n="1" d="1"/>
      </p:scale>
      <p:origin x="0" y="0"/>
    </p:cViewPr>
  </p:notesText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rtlCol="0"/>
        <a:lstStyle/>
        <a:p>
          <a:pPr rtl="0"/>
          <a:endParaRPr lang="en-US"/>
        </a:p>
      </dgm:t>
    </dgm:pt>
    <dgm:pt modelId="{30269CC2-8DD6-4402-82F3-18F164A732FF}">
      <dgm:prSet/>
      <dgm:spPr/>
      <dgm:t>
        <a:bodyPr rtlCol="0"/>
        <a:lstStyle/>
        <a:p>
          <a:pPr>
            <a:lnSpc>
              <a:spcPct val="100000"/>
            </a:lnSpc>
          </a:pPr>
          <a:r>
            <a:rPr lang="en-GB" noProof="0" dirty="0">
              <a:solidFill>
                <a:schemeClr val="bg1"/>
              </a:solidFill>
            </a:rPr>
            <a:t>Node MCU basics</a:t>
          </a:r>
        </a:p>
      </dgm:t>
    </dgm:pt>
    <dgm:pt modelId="{2DAA2C1D-14F6-4BCA-B047-0B53ADD46F43}" type="sibTrans" cxnId="{813C1BD6-5A4A-43F4-8BF7-0645F72381AA}">
      <dgm:prSet/>
      <dgm:spPr/>
      <dgm:t>
        <a:bodyPr rtlCol="0"/>
        <a:lstStyle/>
        <a:p>
          <a:pPr rtl="0"/>
          <a:endParaRPr lang="en-GB" noProof="0" dirty="0"/>
        </a:p>
      </dgm:t>
    </dgm:pt>
    <dgm:pt modelId="{4A8A3B18-A3DE-475C-8BF1-FB4B84DDA43B}" type="parTrans" cxnId="{813C1BD6-5A4A-43F4-8BF7-0645F72381AA}">
      <dgm:prSet/>
      <dgm:spPr/>
      <dgm:t>
        <a:bodyPr rtlCol="0"/>
        <a:lstStyle/>
        <a:p>
          <a:pPr rtl="0"/>
          <a:endParaRPr lang="en-GB" noProof="0" dirty="0"/>
        </a:p>
      </dgm:t>
    </dgm:pt>
    <dgm:pt modelId="{2B87ECDB-C552-42F6-9B52-6548A18B206B}">
      <dgm:prSet/>
      <dgm:spPr/>
      <dgm:t>
        <a:bodyPr rtlCol="0"/>
        <a:lstStyle/>
        <a:p>
          <a:pPr>
            <a:lnSpc>
              <a:spcPct val="100000"/>
            </a:lnSpc>
          </a:pPr>
          <a:r>
            <a:rPr lang="en-GB" noProof="0" dirty="0">
              <a:solidFill>
                <a:schemeClr val="bg1"/>
              </a:solidFill>
            </a:rPr>
            <a:t>Sensors and Data Fetching</a:t>
          </a:r>
        </a:p>
      </dgm:t>
    </dgm:pt>
    <dgm:pt modelId="{80EFB54F-1AC8-40D9-981D-4C85160A5799}" type="sibTrans" cxnId="{91AFA996-5E3B-401C-B400-E70DBD4A4AB6}">
      <dgm:prSet/>
      <dgm:spPr/>
      <dgm:t>
        <a:bodyPr rtlCol="0"/>
        <a:lstStyle/>
        <a:p>
          <a:pPr rtl="0"/>
          <a:endParaRPr lang="en-GB" noProof="0" dirty="0"/>
        </a:p>
      </dgm:t>
    </dgm:pt>
    <dgm:pt modelId="{0DC560D9-C62C-41BA-8D68-CB78933BFF0C}" type="parTrans" cxnId="{91AFA996-5E3B-401C-B400-E70DBD4A4AB6}">
      <dgm:prSet/>
      <dgm:spPr/>
      <dgm:t>
        <a:bodyPr rtlCol="0"/>
        <a:lstStyle/>
        <a:p>
          <a:pPr rtl="0"/>
          <a:endParaRPr lang="en-GB" noProof="0" dirty="0"/>
        </a:p>
      </dgm:t>
    </dgm:pt>
    <dgm:pt modelId="{419DF63C-9792-4EF5-9125-1EEF4D07C33F}">
      <dgm:prSet/>
      <dgm:spPr/>
      <dgm:t>
        <a:bodyPr rtlCol="0"/>
        <a:lstStyle/>
        <a:p>
          <a:pPr>
            <a:lnSpc>
              <a:spcPct val="100000"/>
            </a:lnSpc>
          </a:pPr>
          <a:r>
            <a:rPr lang="en-GB" noProof="0" dirty="0">
              <a:solidFill>
                <a:schemeClr val="bg1"/>
              </a:solidFill>
            </a:rPr>
            <a:t>Wi-fi and IOT</a:t>
          </a:r>
        </a:p>
      </dgm:t>
    </dgm:pt>
    <dgm:pt modelId="{EA8773AB-BB82-4BF6-944E-80CD2086CE93}" type="sibTrans" cxnId="{024B121E-3EE5-42C9-97D1-5E0D27C29DC3}">
      <dgm:prSet/>
      <dgm:spPr/>
      <dgm:t>
        <a:bodyPr rtlCol="0"/>
        <a:lstStyle/>
        <a:p>
          <a:pPr rtl="0"/>
          <a:endParaRPr lang="en-GB" noProof="0" dirty="0"/>
        </a:p>
      </dgm:t>
    </dgm:pt>
    <dgm:pt modelId="{2B95E8EF-82FE-4F54-970D-D55C9AD8EC00}" type="parTrans" cxnId="{024B121E-3EE5-42C9-97D1-5E0D27C29DC3}">
      <dgm:prSet/>
      <dgm:spPr/>
      <dgm:t>
        <a:bodyPr rtlCol="0"/>
        <a:lstStyle/>
        <a:p>
          <a:pPr rtl="0"/>
          <a:endParaRPr lang="en-GB" noProof="0" dirty="0"/>
        </a:p>
      </dgm:t>
    </dgm:pt>
    <dgm:pt modelId="{1B1E513F-BEB7-483A-8F12-A8210AEF19E9}">
      <dgm:prSet/>
      <dgm:spPr/>
      <dgm:t>
        <a:bodyPr rtlCol="0"/>
        <a:lstStyle/>
        <a:p>
          <a:pPr>
            <a:lnSpc>
              <a:spcPct val="100000"/>
            </a:lnSpc>
          </a:pPr>
          <a:r>
            <a:rPr lang="en-GB" noProof="0" dirty="0">
              <a:solidFill>
                <a:schemeClr val="bg1"/>
              </a:solidFill>
            </a:rPr>
            <a:t>3</a:t>
          </a:r>
          <a:r>
            <a:rPr lang="en-GB" baseline="30000" noProof="0" dirty="0">
              <a:solidFill>
                <a:schemeClr val="bg1"/>
              </a:solidFill>
            </a:rPr>
            <a:t>rd</a:t>
          </a:r>
          <a:r>
            <a:rPr lang="en-GB" noProof="0" dirty="0">
              <a:solidFill>
                <a:schemeClr val="bg1"/>
              </a:solidFill>
            </a:rPr>
            <a:t> Party Applications</a:t>
          </a:r>
        </a:p>
      </dgm:t>
    </dgm:pt>
    <dgm:pt modelId="{D99C9B80-BA48-46B7-8B67-372E2AFD9E86}" type="sibTrans" cxnId="{9CD469EF-CF99-411A-B4B3-5B2C59AF684C}">
      <dgm:prSet/>
      <dgm:spPr/>
      <dgm:t>
        <a:bodyPr rtlCol="0"/>
        <a:lstStyle/>
        <a:p>
          <a:pPr rtl="0"/>
          <a:endParaRPr lang="en-GB" noProof="0" dirty="0"/>
        </a:p>
      </dgm:t>
    </dgm:pt>
    <dgm:pt modelId="{DB284026-3063-4705-B72C-ADE04469BE6D}" type="parTrans" cxnId="{9CD469EF-CF99-411A-B4B3-5B2C59AF684C}">
      <dgm:prSet/>
      <dgm:spPr/>
      <dgm:t>
        <a:bodyPr rtlCol="0"/>
        <a:lstStyle/>
        <a:p>
          <a:pPr rtl="0"/>
          <a:endParaRPr lang="en-GB" noProof="0" dirty="0"/>
        </a:p>
      </dgm:t>
    </dgm:pt>
    <dgm:pt modelId="{F4A56385-3827-49D1-B533-953BA75136B7}">
      <dgm:prSet/>
      <dgm:spPr/>
      <dgm:t>
        <a:bodyPr rtlCol="0"/>
        <a:lstStyle/>
        <a:p>
          <a:pPr>
            <a:lnSpc>
              <a:spcPct val="100000"/>
            </a:lnSpc>
          </a:pPr>
          <a:r>
            <a:rPr lang="en-GB" noProof="0" dirty="0">
              <a:solidFill>
                <a:schemeClr val="bg1"/>
              </a:solidFill>
            </a:rPr>
            <a:t>IOT Project</a:t>
          </a:r>
        </a:p>
      </dgm:t>
    </dgm:pt>
    <dgm:pt modelId="{E866DA3A-B427-429E-A892-4812B432ED79}" type="sibTrans" cxnId="{D572C096-14C8-487B-ABCD-6354192B80BA}">
      <dgm:prSet/>
      <dgm:spPr/>
      <dgm:t>
        <a:bodyPr rtlCol="0"/>
        <a:lstStyle/>
        <a:p>
          <a:pPr rtl="0"/>
          <a:endParaRPr lang="en-GB" noProof="0" dirty="0"/>
        </a:p>
      </dgm:t>
    </dgm:pt>
    <dgm:pt modelId="{5C6E35C5-B6D6-42D4-9FF2-63E3FEC1E45F}" type="parTrans" cxnId="{D572C096-14C8-487B-ABCD-6354192B80BA}">
      <dgm:prSet/>
      <dgm:spPr/>
      <dgm:t>
        <a:bodyPr rtlCol="0"/>
        <a:lstStyle/>
        <a:p>
          <a:pPr rtl="0"/>
          <a:endParaRPr lang="en-GB" noProof="0" dirty="0"/>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solidFill>
          <a:schemeClr val="tx2"/>
        </a:soli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with solid fill"/>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solidFill>
          <a:schemeClr val="tx2"/>
        </a:solidFill>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thernet with solid fill"/>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solidFill>
          <a:schemeClr val="tx2"/>
        </a:solidFill>
      </dgm:spPr>
    </dgm:pt>
    <dgm:pt modelId="{D335376E-740A-4A47-BC5B-3381DE731CE0}" type="pres">
      <dgm:prSet presAssocID="{419DF63C-9792-4EF5-9125-1EEF4D07C33F}"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Wireless with solid fill"/>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solidFill>
          <a:schemeClr val="tx2"/>
        </a:solidFill>
      </dgm:spPr>
    </dgm:pt>
    <dgm:pt modelId="{1B0B9210-632F-4BB5-B140-1FA20D3CF123}" type="pres">
      <dgm:prSet presAssocID="{1B1E513F-BEB7-483A-8F12-A8210AEF19E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solidFill>
          <a:schemeClr val="tx2"/>
        </a:solidFill>
        <a:ln>
          <a:noFill/>
        </a:ln>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Programmer female with solid fill"/>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0ECF89-2783-4E78-A209-A16EF114A1AA}" type="doc">
      <dgm:prSet loTypeId="urn:microsoft.com/office/officeart/2016/7/layout/LinProcess3" loCatId="list" qsTypeId="urn:microsoft.com/office/officeart/2005/8/quickstyle/simple1" qsCatId="simple" csTypeId="urn:microsoft.com/office/officeart/2018/5/colors/Iconchunking_neutralicontext_colorful1" csCatId="colorful" phldr="1"/>
      <dgm:spPr/>
      <dgm:t>
        <a:bodyPr rtlCol="0"/>
        <a:lstStyle/>
        <a:p>
          <a:pPr rtl="0"/>
          <a:endParaRPr lang="en-US"/>
        </a:p>
      </dgm:t>
    </dgm:pt>
    <dgm:pt modelId="{FFB58190-E438-47AF-86F3-FAEC2813ACF1}">
      <dgm:prSet custT="1"/>
      <dgm:spPr>
        <a:solidFill>
          <a:schemeClr val="tx2"/>
        </a:solidFill>
        <a:ln>
          <a:noFill/>
        </a:ln>
      </dgm:spPr>
      <dgm:t>
        <a:bodyPr rtlCol="0"/>
        <a:lstStyle/>
        <a:p>
          <a:pPr rtl="0"/>
          <a:r>
            <a:rPr lang="en-GB" sz="2000" b="1" noProof="1">
              <a:solidFill>
                <a:schemeClr val="bg1"/>
              </a:solidFill>
            </a:rPr>
            <a:t>Wi-Fi Connectivity</a:t>
          </a:r>
        </a:p>
        <a:p>
          <a:pPr rtl="0"/>
          <a:r>
            <a:rPr lang="en-GB" sz="1400" noProof="1">
              <a:solidFill>
                <a:schemeClr val="bg1"/>
              </a:solidFill>
            </a:rPr>
            <a:t>The ESP8266 is renowned for its robust Wi-Fi capabilities, which allow it to connect to the internet and other devices seamlessly. </a:t>
          </a:r>
        </a:p>
        <a:p>
          <a:pPr rtl="0"/>
          <a:r>
            <a:rPr lang="en-GB" sz="1400" noProof="1">
              <a:solidFill>
                <a:schemeClr val="bg1"/>
              </a:solidFill>
            </a:rPr>
            <a:t>It supports all standard Wi-Fi protocols (802.11 b/g/n). This means it can join existing Wi-Fi networks or create its own.</a:t>
          </a:r>
        </a:p>
      </dgm:t>
    </dgm:pt>
    <dgm:pt modelId="{A40BCF22-228C-4E6F-A028-7BBDE5C12E5A}" type="parTrans" cxnId="{8FB3CA80-DD34-4F68-B118-EAE12645570F}">
      <dgm:prSet/>
      <dgm:spPr/>
      <dgm:t>
        <a:bodyPr rtlCol="0"/>
        <a:lstStyle/>
        <a:p>
          <a:pPr rtl="0"/>
          <a:endParaRPr lang="en-GB" dirty="0"/>
        </a:p>
      </dgm:t>
    </dgm:pt>
    <dgm:pt modelId="{547F8894-C324-4B84-95BE-A51E4FE0FA16}" type="sibTrans" cxnId="{8FB3CA80-DD34-4F68-B118-EAE12645570F}">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rtlCol="0"/>
        <a:lstStyle/>
        <a:p>
          <a:pPr rtl="0"/>
          <a:endParaRPr lang="en-GB" dirty="0"/>
        </a:p>
      </dgm:t>
    </dgm:pt>
    <dgm:pt modelId="{CE11A269-561D-4BA1-BC45-87F6759FD368}">
      <dgm:prSet custT="1"/>
      <dgm:spPr>
        <a:solidFill>
          <a:schemeClr val="tx2"/>
        </a:soli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GPIO</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The ESP8266 offers up to 17 GPIO pins, which can be used to interface with various external devices like sensors, LEDs, and other peripherals. These GPIO pins can be programmed to perform a wide range of functions</a:t>
          </a:r>
        </a:p>
      </dgm:t>
    </dgm:pt>
    <dgm:pt modelId="{4A66CBC3-2E89-46E5-B2EA-1705F05E6FDD}" type="parTrans" cxnId="{2E9E5A02-0CE8-4569-9B67-05EE24CE2438}">
      <dgm:prSet/>
      <dgm:spPr/>
      <dgm:t>
        <a:bodyPr rtlCol="0"/>
        <a:lstStyle/>
        <a:p>
          <a:pPr rtl="0"/>
          <a:endParaRPr lang="en-GB" dirty="0"/>
        </a:p>
      </dgm:t>
    </dgm:pt>
    <dgm:pt modelId="{C9DED455-19B5-45BA-AEF1-572CA46E947B}" type="sibTrans" cxnId="{2E9E5A02-0CE8-4569-9B67-05EE24CE2438}">
      <dgm:prSet/>
      <dgm:spPr>
        <a:solidFill>
          <a:schemeClr val="tx1"/>
        </a:solidFill>
      </dgm:spPr>
      <dgm:t>
        <a:bodyPr/>
        <a:lstStyle/>
        <a:p>
          <a:pPr rtl="0"/>
          <a:endParaRPr lang="en-GB" dirty="0"/>
        </a:p>
      </dgm:t>
    </dgm:pt>
    <dgm:pt modelId="{C2A3EC29-44BC-4E51-92DE-E27BF9CD4489}">
      <dgm:prSet custT="1"/>
      <dgm:spPr>
        <a:solidFill>
          <a:schemeClr val="tx2"/>
        </a:soli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Power Management</a:t>
          </a:r>
          <a:r>
            <a:rPr lang="en-GB" sz="2000" kern="1200" dirty="0">
              <a:solidFill>
                <a:srgbClr val="FFFFFF"/>
              </a:solidFill>
              <a:latin typeface="Calibri"/>
              <a:ea typeface="+mn-ea"/>
              <a:cs typeface="+mn-cs"/>
            </a:rPr>
            <a:t>. </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It includes several power-saving modes, such as deep sleep, light sleep, and modem sleep. These modes allow the device to reduce its power consumption significantly when full operation is not required for battery-powered devices.</a:t>
          </a:r>
          <a:r>
            <a:rPr lang="en-GB" sz="1600" kern="1200" noProof="1">
              <a:solidFill>
                <a:srgbClr val="FFFFFF"/>
              </a:solidFill>
              <a:latin typeface="Calibri"/>
              <a:ea typeface="+mn-ea"/>
              <a:cs typeface="+mn-cs"/>
            </a:rPr>
            <a:t>. </a:t>
          </a:r>
        </a:p>
        <a:p>
          <a:pPr marL="0" lvl="0" indent="0" algn="l" defTabSz="711200" rtl="0">
            <a:lnSpc>
              <a:spcPct val="90000"/>
            </a:lnSpc>
            <a:spcBef>
              <a:spcPct val="0"/>
            </a:spcBef>
            <a:spcAft>
              <a:spcPct val="35000"/>
            </a:spcAft>
            <a:buNone/>
          </a:pPr>
          <a:endParaRPr lang="en-GB" sz="1600" kern="1200" dirty="0">
            <a:solidFill>
              <a:srgbClr val="FFFFFF"/>
            </a:solidFill>
            <a:latin typeface="Calibri"/>
            <a:ea typeface="+mn-ea"/>
            <a:cs typeface="+mn-cs"/>
          </a:endParaRPr>
        </a:p>
      </dgm:t>
    </dgm:pt>
    <dgm:pt modelId="{CE6B5045-A42D-4562-9588-2342D0E47934}" type="parTrans" cxnId="{B49FD08F-C9D7-4FC0-B446-ED9717719A00}">
      <dgm:prSet/>
      <dgm:spPr/>
      <dgm:t>
        <a:bodyPr rtlCol="0"/>
        <a:lstStyle/>
        <a:p>
          <a:pPr rtl="0"/>
          <a:endParaRPr lang="en-GB" dirty="0"/>
        </a:p>
      </dgm:t>
    </dgm:pt>
    <dgm:pt modelId="{10254594-A53F-49FE-B0F2-BC233EE7109F}" type="sibTrans" cxnId="{B49FD08F-C9D7-4FC0-B446-ED9717719A00}">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rtlCol="0"/>
        <a:lstStyle/>
        <a:p>
          <a:pPr rtl="0"/>
          <a:endParaRPr lang="en-GB" dirty="0"/>
        </a:p>
      </dgm:t>
    </dgm:pt>
    <dgm:pt modelId="{ACE795D8-4182-4DF1-B098-DD0AD48044C8}" type="pres">
      <dgm:prSet presAssocID="{BB0ECF89-2783-4E78-A209-A16EF114A1AA}" presName="Name0" presStyleCnt="0">
        <dgm:presLayoutVars>
          <dgm:animLvl val="lvl"/>
          <dgm:resizeHandles val="exact"/>
        </dgm:presLayoutVars>
      </dgm:prSet>
      <dgm:spPr/>
    </dgm:pt>
    <dgm:pt modelId="{01457034-7B47-4E8B-B040-E0565D08290C}" type="pres">
      <dgm:prSet presAssocID="{FFB58190-E438-47AF-86F3-FAEC2813ACF1}" presName="compositeNode" presStyleCnt="0">
        <dgm:presLayoutVars>
          <dgm:bulletEnabled val="1"/>
        </dgm:presLayoutVars>
      </dgm:prSet>
      <dgm:spPr/>
    </dgm:pt>
    <dgm:pt modelId="{39A872F9-A5B8-4211-9FCD-79722E167124}" type="pres">
      <dgm:prSet presAssocID="{FFB58190-E438-47AF-86F3-FAEC2813ACF1}" presName="bgRect" presStyleLbl="bgAccFollowNode1" presStyleIdx="0" presStyleCnt="3" custLinFactNeighborX="-5668" custLinFactNeighborY="2802"/>
      <dgm:spPr/>
    </dgm:pt>
    <dgm:pt modelId="{8157E768-0524-44F1-8F00-7DF53576D2D6}" type="pres">
      <dgm:prSet presAssocID="{547F8894-C324-4B84-95BE-A51E4FE0FA16}" presName="sibTransNodeCircle" presStyleLbl="alignNode1" presStyleIdx="0" presStyleCnt="6" custScaleX="3502" custScaleY="15708">
        <dgm:presLayoutVars>
          <dgm:chMax val="0"/>
          <dgm:bulletEnabled/>
        </dgm:presLayoutVars>
      </dgm:prSet>
      <dgm:spPr>
        <a:xfrm>
          <a:off x="990361" y="435133"/>
          <a:ext cx="1305401" cy="1305401"/>
        </a:xfrm>
        <a:prstGeom prst="rect">
          <a:avLst/>
        </a:prstGeom>
      </dgm:spPr>
    </dgm:pt>
    <dgm:pt modelId="{676D607A-85D2-4EAF-B264-A9D94B61A4FF}" type="pres">
      <dgm:prSet presAssocID="{FFB58190-E438-47AF-86F3-FAEC2813ACF1}" presName="bottomLine" presStyleLbl="alignNode1" presStyleIdx="1" presStyleCnt="6">
        <dgm:presLayoutVars/>
      </dgm:prSet>
      <dgm:spPr/>
    </dgm:pt>
    <dgm:pt modelId="{3DFCE59B-AEDE-4DE2-8B09-D05F047AB42F}" type="pres">
      <dgm:prSet presAssocID="{FFB58190-E438-47AF-86F3-FAEC2813ACF1}" presName="nodeText" presStyleLbl="bgAccFollowNode1" presStyleIdx="0" presStyleCnt="3">
        <dgm:presLayoutVars>
          <dgm:bulletEnabled val="1"/>
        </dgm:presLayoutVars>
      </dgm:prSet>
      <dgm:spPr/>
    </dgm:pt>
    <dgm:pt modelId="{AD65492C-54BB-4101-B1E0-86F57716A25E}" type="pres">
      <dgm:prSet presAssocID="{547F8894-C324-4B84-95BE-A51E4FE0FA16}" presName="sibTrans" presStyleCnt="0"/>
      <dgm:spPr/>
    </dgm:pt>
    <dgm:pt modelId="{9A0277E3-55B2-4FAA-BDD3-FFC27311B05B}" type="pres">
      <dgm:prSet presAssocID="{CE11A269-561D-4BA1-BC45-87F6759FD368}" presName="compositeNode" presStyleCnt="0">
        <dgm:presLayoutVars>
          <dgm:bulletEnabled val="1"/>
        </dgm:presLayoutVars>
      </dgm:prSet>
      <dgm:spPr/>
    </dgm:pt>
    <dgm:pt modelId="{AE95CEBE-1AD7-41D4-9CEE-5BA77CA8C01E}" type="pres">
      <dgm:prSet presAssocID="{CE11A269-561D-4BA1-BC45-87F6759FD368}" presName="bgRect" presStyleLbl="bgAccFollowNode1" presStyleIdx="1" presStyleCnt="3"/>
      <dgm:spPr>
        <a:xfrm>
          <a:off x="3614737" y="0"/>
          <a:ext cx="3286125" cy="4351338"/>
        </a:xfrm>
        <a:prstGeom prst="rect">
          <a:avLst/>
        </a:prstGeom>
      </dgm:spPr>
    </dgm:pt>
    <dgm:pt modelId="{AFA09309-0DCE-4477-82D3-AAF980A85A37}" type="pres">
      <dgm:prSet presAssocID="{C9DED455-19B5-45BA-AEF1-572CA46E947B}" presName="sibTransNodeCircle" presStyleLbl="alignNode1" presStyleIdx="2" presStyleCnt="6" custFlipVert="1" custFlipHor="1" custScaleX="14690" custScaleY="18810" custLinFactNeighborX="-8221" custLinFactNeighborY="-4287">
        <dgm:presLayoutVars>
          <dgm:chMax val="0"/>
          <dgm:bulletEnabled/>
        </dgm:presLayoutVars>
      </dgm:prSet>
      <dgm:spPr>
        <a:xfrm>
          <a:off x="4605099" y="435133"/>
          <a:ext cx="1305401" cy="1305401"/>
        </a:xfrm>
      </dgm:spPr>
    </dgm:pt>
    <dgm:pt modelId="{70685E0F-5EC9-4D84-80D5-F2F78DC3CFFC}" type="pres">
      <dgm:prSet presAssocID="{CE11A269-561D-4BA1-BC45-87F6759FD368}" presName="bottomLine" presStyleLbl="alignNode1" presStyleIdx="3" presStyleCnt="6">
        <dgm:presLayoutVars/>
      </dgm:prSet>
      <dgm:spPr/>
    </dgm:pt>
    <dgm:pt modelId="{E8E0C55E-232A-41CA-87BA-45B86ABED6ED}" type="pres">
      <dgm:prSet presAssocID="{CE11A269-561D-4BA1-BC45-87F6759FD368}" presName="nodeText" presStyleLbl="bgAccFollowNode1" presStyleIdx="1" presStyleCnt="3">
        <dgm:presLayoutVars>
          <dgm:bulletEnabled val="1"/>
        </dgm:presLayoutVars>
      </dgm:prSet>
      <dgm:spPr/>
    </dgm:pt>
    <dgm:pt modelId="{556726A2-0416-41E0-99B4-BCA6885784BC}" type="pres">
      <dgm:prSet presAssocID="{C9DED455-19B5-45BA-AEF1-572CA46E947B}" presName="sibTrans" presStyleCnt="0"/>
      <dgm:spPr/>
    </dgm:pt>
    <dgm:pt modelId="{F4C4AEC7-6D64-4C71-ADC5-0F5CC45360C6}" type="pres">
      <dgm:prSet presAssocID="{C2A3EC29-44BC-4E51-92DE-E27BF9CD4489}" presName="compositeNode" presStyleCnt="0">
        <dgm:presLayoutVars>
          <dgm:bulletEnabled val="1"/>
        </dgm:presLayoutVars>
      </dgm:prSet>
      <dgm:spPr/>
    </dgm:pt>
    <dgm:pt modelId="{3AF3868F-681F-4EF9-8B83-F3B0F354A4C4}" type="pres">
      <dgm:prSet presAssocID="{C2A3EC29-44BC-4E51-92DE-E27BF9CD4489}" presName="bgRect" presStyleLbl="bgAccFollowNode1" presStyleIdx="2" presStyleCnt="3"/>
      <dgm:spPr>
        <a:xfrm>
          <a:off x="7229475" y="0"/>
          <a:ext cx="3286125" cy="4351338"/>
        </a:xfrm>
        <a:prstGeom prst="rect">
          <a:avLst/>
        </a:prstGeom>
      </dgm:spPr>
    </dgm:pt>
    <dgm:pt modelId="{9718E67E-2C8C-4093-AB5F-E3BEFAAEA31B}" type="pres">
      <dgm:prSet presAssocID="{10254594-A53F-49FE-B0F2-BC233EE7109F}" presName="sibTransNodeCircle" presStyleLbl="alignNode1" presStyleIdx="4" presStyleCnt="6" custFlipVert="1" custFlipHor="1" custScaleX="6406" custScaleY="20107" custLinFactNeighborX="-1945" custLinFactNeighborY="-4287">
        <dgm:presLayoutVars>
          <dgm:chMax val="0"/>
          <dgm:bulletEnabled/>
        </dgm:presLayoutVars>
      </dgm:prSet>
      <dgm:spPr>
        <a:xfrm>
          <a:off x="8219836" y="435133"/>
          <a:ext cx="1305401" cy="1305401"/>
        </a:xfrm>
        <a:prstGeom prst="rect">
          <a:avLst/>
        </a:prstGeom>
      </dgm:spPr>
    </dgm:pt>
    <dgm:pt modelId="{13CAC05E-7817-4F00-94BF-9DC0F20DF1D8}" type="pres">
      <dgm:prSet presAssocID="{C2A3EC29-44BC-4E51-92DE-E27BF9CD4489}" presName="bottomLine" presStyleLbl="alignNode1" presStyleIdx="5" presStyleCnt="6">
        <dgm:presLayoutVars/>
      </dgm:prSet>
      <dgm:spPr/>
    </dgm:pt>
    <dgm:pt modelId="{90A7E684-CAA3-435E-B654-85F1BA7D2B87}" type="pres">
      <dgm:prSet presAssocID="{C2A3EC29-44BC-4E51-92DE-E27BF9CD4489}" presName="nodeText" presStyleLbl="bgAccFollowNode1" presStyleIdx="2" presStyleCnt="3">
        <dgm:presLayoutVars>
          <dgm:bulletEnabled val="1"/>
        </dgm:presLayoutVars>
      </dgm:prSet>
      <dgm:spPr/>
    </dgm:pt>
  </dgm:ptLst>
  <dgm:cxnLst>
    <dgm:cxn modelId="{2E9E5A02-0CE8-4569-9B67-05EE24CE2438}" srcId="{BB0ECF89-2783-4E78-A209-A16EF114A1AA}" destId="{CE11A269-561D-4BA1-BC45-87F6759FD368}" srcOrd="1" destOrd="0" parTransId="{4A66CBC3-2E89-46E5-B2EA-1705F05E6FDD}" sibTransId="{C9DED455-19B5-45BA-AEF1-572CA46E947B}"/>
    <dgm:cxn modelId="{D2545B17-F0FC-41C0-8AE6-C63C564398B0}" type="presOf" srcId="{CE11A269-561D-4BA1-BC45-87F6759FD368}" destId="{AE95CEBE-1AD7-41D4-9CEE-5BA77CA8C01E}" srcOrd="0" destOrd="0" presId="urn:microsoft.com/office/officeart/2016/7/layout/LinProcess3"/>
    <dgm:cxn modelId="{36884E1A-39D3-4491-AFD6-BCBC6392A59E}" type="presOf" srcId="{CE11A269-561D-4BA1-BC45-87F6759FD368}" destId="{E8E0C55E-232A-41CA-87BA-45B86ABED6ED}" srcOrd="1" destOrd="0" presId="urn:microsoft.com/office/officeart/2016/7/layout/LinProcess3"/>
    <dgm:cxn modelId="{2229DB1B-DE4F-469E-8FA0-07BEC5B5F9D6}" type="presOf" srcId="{10254594-A53F-49FE-B0F2-BC233EE7109F}" destId="{9718E67E-2C8C-4093-AB5F-E3BEFAAEA31B}" srcOrd="0" destOrd="0" presId="urn:microsoft.com/office/officeart/2016/7/layout/LinProcess3"/>
    <dgm:cxn modelId="{0C140A6B-1B4A-4553-81FF-5591D9487696}" type="presOf" srcId="{C2A3EC29-44BC-4E51-92DE-E27BF9CD4489}" destId="{3AF3868F-681F-4EF9-8B83-F3B0F354A4C4}" srcOrd="0" destOrd="0" presId="urn:microsoft.com/office/officeart/2016/7/layout/LinProcess3"/>
    <dgm:cxn modelId="{025C3756-4F90-42F6-B826-13223FDABED0}" type="presOf" srcId="{547F8894-C324-4B84-95BE-A51E4FE0FA16}" destId="{8157E768-0524-44F1-8F00-7DF53576D2D6}" srcOrd="0" destOrd="0" presId="urn:microsoft.com/office/officeart/2016/7/layout/LinProcess3"/>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469CA3A1-2EC0-458C-B828-8121A2D4750A}" type="presOf" srcId="{BB0ECF89-2783-4E78-A209-A16EF114A1AA}" destId="{ACE795D8-4182-4DF1-B098-DD0AD48044C8}" srcOrd="0" destOrd="0" presId="urn:microsoft.com/office/officeart/2016/7/layout/LinProcess3"/>
    <dgm:cxn modelId="{C8A4ECC3-0B95-497F-8D57-1124DFD9842C}" type="presOf" srcId="{C2A3EC29-44BC-4E51-92DE-E27BF9CD4489}" destId="{90A7E684-CAA3-435E-B654-85F1BA7D2B87}" srcOrd="1" destOrd="0" presId="urn:microsoft.com/office/officeart/2016/7/layout/LinProcess3"/>
    <dgm:cxn modelId="{13094BE1-4993-450F-9A18-CF0E62019EF7}" type="presOf" srcId="{FFB58190-E438-47AF-86F3-FAEC2813ACF1}" destId="{39A872F9-A5B8-4211-9FCD-79722E167124}" srcOrd="0" destOrd="0" presId="urn:microsoft.com/office/officeart/2016/7/layout/LinProcess3"/>
    <dgm:cxn modelId="{8A5C10EE-3A87-49FC-9945-C0118988EF8D}" type="presOf" srcId="{C9DED455-19B5-45BA-AEF1-572CA46E947B}" destId="{AFA09309-0DCE-4477-82D3-AAF980A85A37}" srcOrd="0" destOrd="0" presId="urn:microsoft.com/office/officeart/2016/7/layout/LinProcess3"/>
    <dgm:cxn modelId="{D24113F0-9FAB-4A26-B7AA-17C02606FE1D}" type="presOf" srcId="{FFB58190-E438-47AF-86F3-FAEC2813ACF1}" destId="{3DFCE59B-AEDE-4DE2-8B09-D05F047AB42F}" srcOrd="1" destOrd="0" presId="urn:microsoft.com/office/officeart/2016/7/layout/LinProcess3"/>
    <dgm:cxn modelId="{76481A27-79A5-48E5-BA29-16004448893C}" type="presParOf" srcId="{ACE795D8-4182-4DF1-B098-DD0AD48044C8}" destId="{01457034-7B47-4E8B-B040-E0565D08290C}" srcOrd="0" destOrd="0" presId="urn:microsoft.com/office/officeart/2016/7/layout/LinProcess3"/>
    <dgm:cxn modelId="{86BEA9C1-5DDA-42C2-937D-A7130110FF74}" type="presParOf" srcId="{01457034-7B47-4E8B-B040-E0565D08290C}" destId="{39A872F9-A5B8-4211-9FCD-79722E167124}" srcOrd="0" destOrd="0" presId="urn:microsoft.com/office/officeart/2016/7/layout/LinProcess3"/>
    <dgm:cxn modelId="{7DC5639C-5BDF-4F6D-A737-811AEFB16C12}" type="presParOf" srcId="{01457034-7B47-4E8B-B040-E0565D08290C}" destId="{8157E768-0524-44F1-8F00-7DF53576D2D6}" srcOrd="1" destOrd="0" presId="urn:microsoft.com/office/officeart/2016/7/layout/LinProcess3"/>
    <dgm:cxn modelId="{9BE7A881-53AA-46A4-B4D9-5952CA3DDD83}" type="presParOf" srcId="{01457034-7B47-4E8B-B040-E0565D08290C}" destId="{676D607A-85D2-4EAF-B264-A9D94B61A4FF}" srcOrd="2" destOrd="0" presId="urn:microsoft.com/office/officeart/2016/7/layout/LinProcess3"/>
    <dgm:cxn modelId="{3CDC6E8B-95DF-4144-9A43-8F1F01D9B5EA}" type="presParOf" srcId="{01457034-7B47-4E8B-B040-E0565D08290C}" destId="{3DFCE59B-AEDE-4DE2-8B09-D05F047AB42F}" srcOrd="3" destOrd="0" presId="urn:microsoft.com/office/officeart/2016/7/layout/LinProcess3"/>
    <dgm:cxn modelId="{050D0D46-967C-45EE-A82A-AD10E04485C1}" type="presParOf" srcId="{ACE795D8-4182-4DF1-B098-DD0AD48044C8}" destId="{AD65492C-54BB-4101-B1E0-86F57716A25E}" srcOrd="1" destOrd="0" presId="urn:microsoft.com/office/officeart/2016/7/layout/LinProcess3"/>
    <dgm:cxn modelId="{C5C3B0C4-18DC-4916-ABAF-6A287C00BAA9}" type="presParOf" srcId="{ACE795D8-4182-4DF1-B098-DD0AD48044C8}" destId="{9A0277E3-55B2-4FAA-BDD3-FFC27311B05B}" srcOrd="2" destOrd="0" presId="urn:microsoft.com/office/officeart/2016/7/layout/LinProcess3"/>
    <dgm:cxn modelId="{FA398688-6697-4B8B-A789-FF729FC50671}" type="presParOf" srcId="{9A0277E3-55B2-4FAA-BDD3-FFC27311B05B}" destId="{AE95CEBE-1AD7-41D4-9CEE-5BA77CA8C01E}" srcOrd="0" destOrd="0" presId="urn:microsoft.com/office/officeart/2016/7/layout/LinProcess3"/>
    <dgm:cxn modelId="{67EE8417-B6AF-43C7-AA8C-3B90AB6AE1FE}" type="presParOf" srcId="{9A0277E3-55B2-4FAA-BDD3-FFC27311B05B}" destId="{AFA09309-0DCE-4477-82D3-AAF980A85A37}" srcOrd="1" destOrd="0" presId="urn:microsoft.com/office/officeart/2016/7/layout/LinProcess3"/>
    <dgm:cxn modelId="{5CE89ECF-B3C2-499B-BBDE-19538F56547F}" type="presParOf" srcId="{9A0277E3-55B2-4FAA-BDD3-FFC27311B05B}" destId="{70685E0F-5EC9-4D84-80D5-F2F78DC3CFFC}" srcOrd="2" destOrd="0" presId="urn:microsoft.com/office/officeart/2016/7/layout/LinProcess3"/>
    <dgm:cxn modelId="{D77D220A-12C7-4499-9660-B4B666A87129}" type="presParOf" srcId="{9A0277E3-55B2-4FAA-BDD3-FFC27311B05B}" destId="{E8E0C55E-232A-41CA-87BA-45B86ABED6ED}" srcOrd="3" destOrd="0" presId="urn:microsoft.com/office/officeart/2016/7/layout/LinProcess3"/>
    <dgm:cxn modelId="{F3EEB326-7683-4D4B-BE0D-D7CC3EE67CB3}" type="presParOf" srcId="{ACE795D8-4182-4DF1-B098-DD0AD48044C8}" destId="{556726A2-0416-41E0-99B4-BCA6885784BC}" srcOrd="3" destOrd="0" presId="urn:microsoft.com/office/officeart/2016/7/layout/LinProcess3"/>
    <dgm:cxn modelId="{1694C3CA-CE7E-4D7A-B769-94D0C473B6D9}" type="presParOf" srcId="{ACE795D8-4182-4DF1-B098-DD0AD48044C8}" destId="{F4C4AEC7-6D64-4C71-ADC5-0F5CC45360C6}" srcOrd="4" destOrd="0" presId="urn:microsoft.com/office/officeart/2016/7/layout/LinProcess3"/>
    <dgm:cxn modelId="{01DA811B-E595-4B26-916D-A5B9420780B1}" type="presParOf" srcId="{F4C4AEC7-6D64-4C71-ADC5-0F5CC45360C6}" destId="{3AF3868F-681F-4EF9-8B83-F3B0F354A4C4}" srcOrd="0" destOrd="0" presId="urn:microsoft.com/office/officeart/2016/7/layout/LinProcess3"/>
    <dgm:cxn modelId="{65C50157-4E89-44E0-ADFE-2CDCD946EC0C}" type="presParOf" srcId="{F4C4AEC7-6D64-4C71-ADC5-0F5CC45360C6}" destId="{9718E67E-2C8C-4093-AB5F-E3BEFAAEA31B}" srcOrd="1" destOrd="0" presId="urn:microsoft.com/office/officeart/2016/7/layout/LinProcess3"/>
    <dgm:cxn modelId="{03312845-43B9-45C8-960A-3A8CADC652DB}" type="presParOf" srcId="{F4C4AEC7-6D64-4C71-ADC5-0F5CC45360C6}" destId="{13CAC05E-7817-4F00-94BF-9DC0F20DF1D8}" srcOrd="2" destOrd="0" presId="urn:microsoft.com/office/officeart/2016/7/layout/LinProcess3"/>
    <dgm:cxn modelId="{D7A81CCE-E542-4242-8542-3C297BE2D6C9}" type="presParOf" srcId="{F4C4AEC7-6D64-4C71-ADC5-0F5CC45360C6}" destId="{90A7E684-CAA3-435E-B654-85F1BA7D2B87}" srcOrd="3" destOrd="0" presId="urn:microsoft.com/office/officeart/2016/7/layout/Lin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0ECF89-2783-4E78-A209-A16EF114A1AA}" type="doc">
      <dgm:prSet loTypeId="urn:microsoft.com/office/officeart/2016/7/layout/LinProcess3" loCatId="list" qsTypeId="urn:microsoft.com/office/officeart/2005/8/quickstyle/simple1" qsCatId="simple" csTypeId="urn:microsoft.com/office/officeart/2018/5/colors/Iconchunking_neutralicontext_colorful1" csCatId="colorful" phldr="1"/>
      <dgm:spPr/>
      <dgm:t>
        <a:bodyPr rtlCol="0"/>
        <a:lstStyle/>
        <a:p>
          <a:pPr rtl="0"/>
          <a:endParaRPr lang="en-US"/>
        </a:p>
      </dgm:t>
    </dgm:pt>
    <dgm:pt modelId="{FFB58190-E438-47AF-86F3-FAEC2813ACF1}">
      <dgm:prSet custT="1"/>
      <dgm:spPr>
        <a:solidFill>
          <a:schemeClr val="tx2"/>
        </a:solidFill>
        <a:ln>
          <a:noFill/>
        </a:ln>
      </dgm:spPr>
      <dgm:t>
        <a:bodyPr rtlCol="0"/>
        <a:lstStyle/>
        <a:p>
          <a:pPr rtl="0"/>
          <a:r>
            <a:rPr lang="en-GB" sz="2000" b="1" noProof="1">
              <a:solidFill>
                <a:schemeClr val="bg1"/>
              </a:solidFill>
            </a:rPr>
            <a:t>Arduino</a:t>
          </a:r>
        </a:p>
        <a:p>
          <a:pPr rtl="0"/>
          <a:r>
            <a:rPr lang="en-GB" sz="1600" noProof="1">
              <a:solidFill>
                <a:schemeClr val="bg1"/>
              </a:solidFill>
            </a:rPr>
            <a:t>-Clock speed 16 MHz</a:t>
          </a:r>
        </a:p>
        <a:p>
          <a:pPr rtl="0"/>
          <a:r>
            <a:rPr lang="en-GB" sz="1600" noProof="1">
              <a:solidFill>
                <a:schemeClr val="bg1"/>
              </a:solidFill>
            </a:rPr>
            <a:t>-Operates at 5V</a:t>
          </a:r>
        </a:p>
        <a:p>
          <a:pPr rtl="0"/>
          <a:r>
            <a:rPr lang="en-GB" sz="1600" noProof="1">
              <a:solidFill>
                <a:schemeClr val="bg1"/>
              </a:solidFill>
            </a:rPr>
            <a:t>-No built in wifi</a:t>
          </a:r>
        </a:p>
        <a:p>
          <a:pPr rtl="0"/>
          <a:r>
            <a:rPr lang="en-GB" sz="1600" noProof="1">
              <a:solidFill>
                <a:schemeClr val="bg1"/>
              </a:solidFill>
            </a:rPr>
            <a:t>-No inbuilt sensors</a:t>
          </a:r>
        </a:p>
      </dgm:t>
    </dgm:pt>
    <dgm:pt modelId="{A40BCF22-228C-4E6F-A028-7BBDE5C12E5A}" type="parTrans" cxnId="{8FB3CA80-DD34-4F68-B118-EAE12645570F}">
      <dgm:prSet/>
      <dgm:spPr/>
      <dgm:t>
        <a:bodyPr rtlCol="0"/>
        <a:lstStyle/>
        <a:p>
          <a:pPr rtl="0"/>
          <a:endParaRPr lang="en-GB" dirty="0"/>
        </a:p>
      </dgm:t>
    </dgm:pt>
    <dgm:pt modelId="{547F8894-C324-4B84-95BE-A51E4FE0FA16}" type="sibTrans" cxnId="{8FB3CA80-DD34-4F68-B118-EAE12645570F}">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rtlCol="0"/>
        <a:lstStyle/>
        <a:p>
          <a:pPr rtl="0"/>
          <a:endParaRPr lang="en-GB" dirty="0"/>
        </a:p>
      </dgm:t>
    </dgm:pt>
    <dgm:pt modelId="{CE11A269-561D-4BA1-BC45-87F6759FD368}">
      <dgm:prSet custT="1"/>
      <dgm:spPr>
        <a:solidFill>
          <a:schemeClr val="tx2"/>
        </a:soli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ESP 8266</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-Clock speed 160 MHz</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-Operates at 3.3V (voltage regulator)</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-Built in Wi-Fi</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-No inbuilt sensors</a:t>
          </a:r>
        </a:p>
      </dgm:t>
    </dgm:pt>
    <dgm:pt modelId="{4A66CBC3-2E89-46E5-B2EA-1705F05E6FDD}" type="parTrans" cxnId="{2E9E5A02-0CE8-4569-9B67-05EE24CE2438}">
      <dgm:prSet/>
      <dgm:spPr/>
      <dgm:t>
        <a:bodyPr rtlCol="0"/>
        <a:lstStyle/>
        <a:p>
          <a:pPr rtl="0"/>
          <a:endParaRPr lang="en-GB" dirty="0"/>
        </a:p>
      </dgm:t>
    </dgm:pt>
    <dgm:pt modelId="{C9DED455-19B5-45BA-AEF1-572CA46E947B}" type="sibTrans" cxnId="{2E9E5A02-0CE8-4569-9B67-05EE24CE2438}">
      <dgm:prSet/>
      <dgm:spPr>
        <a:solidFill>
          <a:schemeClr val="tx1"/>
        </a:solidFill>
      </dgm:spPr>
      <dgm:t>
        <a:bodyPr/>
        <a:lstStyle/>
        <a:p>
          <a:pPr rtl="0"/>
          <a:endParaRPr lang="en-GB" dirty="0"/>
        </a:p>
      </dgm:t>
    </dgm:pt>
    <dgm:pt modelId="{C2A3EC29-44BC-4E51-92DE-E27BF9CD4489}">
      <dgm:prSet custT="1"/>
      <dgm:spPr>
        <a:solidFill>
          <a:schemeClr val="tx2"/>
        </a:soli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ESP 32</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-Clock speed 240 MHz</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-Operates at 3.3V(voltage regulator)</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-Built in Wi-Fi and Bluetooth, BLE</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-Has Inbuilt sensors (Temp, Hall effect, Capacitive touch)</a:t>
          </a:r>
        </a:p>
      </dgm:t>
    </dgm:pt>
    <dgm:pt modelId="{CE6B5045-A42D-4562-9588-2342D0E47934}" type="parTrans" cxnId="{B49FD08F-C9D7-4FC0-B446-ED9717719A00}">
      <dgm:prSet/>
      <dgm:spPr/>
      <dgm:t>
        <a:bodyPr rtlCol="0"/>
        <a:lstStyle/>
        <a:p>
          <a:pPr rtl="0"/>
          <a:endParaRPr lang="en-GB" dirty="0"/>
        </a:p>
      </dgm:t>
    </dgm:pt>
    <dgm:pt modelId="{10254594-A53F-49FE-B0F2-BC233EE7109F}" type="sibTrans" cxnId="{B49FD08F-C9D7-4FC0-B446-ED9717719A00}">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rtlCol="0"/>
        <a:lstStyle/>
        <a:p>
          <a:pPr rtl="0"/>
          <a:endParaRPr lang="en-GB" dirty="0"/>
        </a:p>
      </dgm:t>
    </dgm:pt>
    <dgm:pt modelId="{ACE795D8-4182-4DF1-B098-DD0AD48044C8}" type="pres">
      <dgm:prSet presAssocID="{BB0ECF89-2783-4E78-A209-A16EF114A1AA}" presName="Name0" presStyleCnt="0">
        <dgm:presLayoutVars>
          <dgm:animLvl val="lvl"/>
          <dgm:resizeHandles val="exact"/>
        </dgm:presLayoutVars>
      </dgm:prSet>
      <dgm:spPr/>
    </dgm:pt>
    <dgm:pt modelId="{01457034-7B47-4E8B-B040-E0565D08290C}" type="pres">
      <dgm:prSet presAssocID="{FFB58190-E438-47AF-86F3-FAEC2813ACF1}" presName="compositeNode" presStyleCnt="0">
        <dgm:presLayoutVars>
          <dgm:bulletEnabled val="1"/>
        </dgm:presLayoutVars>
      </dgm:prSet>
      <dgm:spPr/>
    </dgm:pt>
    <dgm:pt modelId="{39A872F9-A5B8-4211-9FCD-79722E167124}" type="pres">
      <dgm:prSet presAssocID="{FFB58190-E438-47AF-86F3-FAEC2813ACF1}" presName="bgRect" presStyleLbl="bgAccFollowNode1" presStyleIdx="0" presStyleCnt="3" custLinFactNeighborX="-36087" custLinFactNeighborY="-15111"/>
      <dgm:spPr/>
    </dgm:pt>
    <dgm:pt modelId="{8157E768-0524-44F1-8F00-7DF53576D2D6}" type="pres">
      <dgm:prSet presAssocID="{547F8894-C324-4B84-95BE-A51E4FE0FA16}" presName="sibTransNodeCircle" presStyleLbl="alignNode1" presStyleIdx="0" presStyleCnt="6" custScaleX="3502" custScaleY="15708">
        <dgm:presLayoutVars>
          <dgm:chMax val="0"/>
          <dgm:bulletEnabled/>
        </dgm:presLayoutVars>
      </dgm:prSet>
      <dgm:spPr>
        <a:xfrm>
          <a:off x="990361" y="435133"/>
          <a:ext cx="1305401" cy="1305401"/>
        </a:xfrm>
        <a:prstGeom prst="rect">
          <a:avLst/>
        </a:prstGeom>
      </dgm:spPr>
    </dgm:pt>
    <dgm:pt modelId="{676D607A-85D2-4EAF-B264-A9D94B61A4FF}" type="pres">
      <dgm:prSet presAssocID="{FFB58190-E438-47AF-86F3-FAEC2813ACF1}" presName="bottomLine" presStyleLbl="alignNode1" presStyleIdx="1" presStyleCnt="6">
        <dgm:presLayoutVars/>
      </dgm:prSet>
      <dgm:spPr/>
    </dgm:pt>
    <dgm:pt modelId="{3DFCE59B-AEDE-4DE2-8B09-D05F047AB42F}" type="pres">
      <dgm:prSet presAssocID="{FFB58190-E438-47AF-86F3-FAEC2813ACF1}" presName="nodeText" presStyleLbl="bgAccFollowNode1" presStyleIdx="0" presStyleCnt="3">
        <dgm:presLayoutVars>
          <dgm:bulletEnabled val="1"/>
        </dgm:presLayoutVars>
      </dgm:prSet>
      <dgm:spPr/>
    </dgm:pt>
    <dgm:pt modelId="{AD65492C-54BB-4101-B1E0-86F57716A25E}" type="pres">
      <dgm:prSet presAssocID="{547F8894-C324-4B84-95BE-A51E4FE0FA16}" presName="sibTrans" presStyleCnt="0"/>
      <dgm:spPr/>
    </dgm:pt>
    <dgm:pt modelId="{9A0277E3-55B2-4FAA-BDD3-FFC27311B05B}" type="pres">
      <dgm:prSet presAssocID="{CE11A269-561D-4BA1-BC45-87F6759FD368}" presName="compositeNode" presStyleCnt="0">
        <dgm:presLayoutVars>
          <dgm:bulletEnabled val="1"/>
        </dgm:presLayoutVars>
      </dgm:prSet>
      <dgm:spPr/>
    </dgm:pt>
    <dgm:pt modelId="{AE95CEBE-1AD7-41D4-9CEE-5BA77CA8C01E}" type="pres">
      <dgm:prSet presAssocID="{CE11A269-561D-4BA1-BC45-87F6759FD368}" presName="bgRect" presStyleLbl="bgAccFollowNode1" presStyleIdx="1" presStyleCnt="3"/>
      <dgm:spPr>
        <a:xfrm>
          <a:off x="3614737" y="0"/>
          <a:ext cx="3286125" cy="4351338"/>
        </a:xfrm>
        <a:prstGeom prst="rect">
          <a:avLst/>
        </a:prstGeom>
      </dgm:spPr>
    </dgm:pt>
    <dgm:pt modelId="{AFA09309-0DCE-4477-82D3-AAF980A85A37}" type="pres">
      <dgm:prSet presAssocID="{C9DED455-19B5-45BA-AEF1-572CA46E947B}" presName="sibTransNodeCircle" presStyleLbl="alignNode1" presStyleIdx="2" presStyleCnt="6" custFlipVert="1" custFlipHor="1" custScaleX="14690" custScaleY="18810" custLinFactNeighborX="-8221" custLinFactNeighborY="-4287">
        <dgm:presLayoutVars>
          <dgm:chMax val="0"/>
          <dgm:bulletEnabled/>
        </dgm:presLayoutVars>
      </dgm:prSet>
      <dgm:spPr>
        <a:xfrm>
          <a:off x="4605099" y="435133"/>
          <a:ext cx="1305401" cy="1305401"/>
        </a:xfrm>
      </dgm:spPr>
    </dgm:pt>
    <dgm:pt modelId="{70685E0F-5EC9-4D84-80D5-F2F78DC3CFFC}" type="pres">
      <dgm:prSet presAssocID="{CE11A269-561D-4BA1-BC45-87F6759FD368}" presName="bottomLine" presStyleLbl="alignNode1" presStyleIdx="3" presStyleCnt="6">
        <dgm:presLayoutVars/>
      </dgm:prSet>
      <dgm:spPr/>
    </dgm:pt>
    <dgm:pt modelId="{E8E0C55E-232A-41CA-87BA-45B86ABED6ED}" type="pres">
      <dgm:prSet presAssocID="{CE11A269-561D-4BA1-BC45-87F6759FD368}" presName="nodeText" presStyleLbl="bgAccFollowNode1" presStyleIdx="1" presStyleCnt="3">
        <dgm:presLayoutVars>
          <dgm:bulletEnabled val="1"/>
        </dgm:presLayoutVars>
      </dgm:prSet>
      <dgm:spPr/>
    </dgm:pt>
    <dgm:pt modelId="{556726A2-0416-41E0-99B4-BCA6885784BC}" type="pres">
      <dgm:prSet presAssocID="{C9DED455-19B5-45BA-AEF1-572CA46E947B}" presName="sibTrans" presStyleCnt="0"/>
      <dgm:spPr/>
    </dgm:pt>
    <dgm:pt modelId="{F4C4AEC7-6D64-4C71-ADC5-0F5CC45360C6}" type="pres">
      <dgm:prSet presAssocID="{C2A3EC29-44BC-4E51-92DE-E27BF9CD4489}" presName="compositeNode" presStyleCnt="0">
        <dgm:presLayoutVars>
          <dgm:bulletEnabled val="1"/>
        </dgm:presLayoutVars>
      </dgm:prSet>
      <dgm:spPr/>
    </dgm:pt>
    <dgm:pt modelId="{3AF3868F-681F-4EF9-8B83-F3B0F354A4C4}" type="pres">
      <dgm:prSet presAssocID="{C2A3EC29-44BC-4E51-92DE-E27BF9CD4489}" presName="bgRect" presStyleLbl="bgAccFollowNode1" presStyleIdx="2" presStyleCnt="3"/>
      <dgm:spPr>
        <a:xfrm>
          <a:off x="7229475" y="0"/>
          <a:ext cx="3286125" cy="4351338"/>
        </a:xfrm>
        <a:prstGeom prst="rect">
          <a:avLst/>
        </a:prstGeom>
      </dgm:spPr>
    </dgm:pt>
    <dgm:pt modelId="{9718E67E-2C8C-4093-AB5F-E3BEFAAEA31B}" type="pres">
      <dgm:prSet presAssocID="{10254594-A53F-49FE-B0F2-BC233EE7109F}" presName="sibTransNodeCircle" presStyleLbl="alignNode1" presStyleIdx="4" presStyleCnt="6" custFlipVert="1" custFlipHor="1" custScaleX="3502" custScaleY="3502" custLinFactNeighborX="-1945" custLinFactNeighborY="-4287">
        <dgm:presLayoutVars>
          <dgm:chMax val="0"/>
          <dgm:bulletEnabled/>
        </dgm:presLayoutVars>
      </dgm:prSet>
      <dgm:spPr>
        <a:xfrm>
          <a:off x="8219836" y="435133"/>
          <a:ext cx="1305401" cy="1305401"/>
        </a:xfrm>
        <a:prstGeom prst="rect">
          <a:avLst/>
        </a:prstGeom>
      </dgm:spPr>
    </dgm:pt>
    <dgm:pt modelId="{13CAC05E-7817-4F00-94BF-9DC0F20DF1D8}" type="pres">
      <dgm:prSet presAssocID="{C2A3EC29-44BC-4E51-92DE-E27BF9CD4489}" presName="bottomLine" presStyleLbl="alignNode1" presStyleIdx="5" presStyleCnt="6">
        <dgm:presLayoutVars/>
      </dgm:prSet>
      <dgm:spPr/>
    </dgm:pt>
    <dgm:pt modelId="{90A7E684-CAA3-435E-B654-85F1BA7D2B87}" type="pres">
      <dgm:prSet presAssocID="{C2A3EC29-44BC-4E51-92DE-E27BF9CD4489}" presName="nodeText" presStyleLbl="bgAccFollowNode1" presStyleIdx="2" presStyleCnt="3">
        <dgm:presLayoutVars>
          <dgm:bulletEnabled val="1"/>
        </dgm:presLayoutVars>
      </dgm:prSet>
      <dgm:spPr/>
    </dgm:pt>
  </dgm:ptLst>
  <dgm:cxnLst>
    <dgm:cxn modelId="{2E9E5A02-0CE8-4569-9B67-05EE24CE2438}" srcId="{BB0ECF89-2783-4E78-A209-A16EF114A1AA}" destId="{CE11A269-561D-4BA1-BC45-87F6759FD368}" srcOrd="1" destOrd="0" parTransId="{4A66CBC3-2E89-46E5-B2EA-1705F05E6FDD}" sibTransId="{C9DED455-19B5-45BA-AEF1-572CA46E947B}"/>
    <dgm:cxn modelId="{D2545B17-F0FC-41C0-8AE6-C63C564398B0}" type="presOf" srcId="{CE11A269-561D-4BA1-BC45-87F6759FD368}" destId="{AE95CEBE-1AD7-41D4-9CEE-5BA77CA8C01E}" srcOrd="0" destOrd="0" presId="urn:microsoft.com/office/officeart/2016/7/layout/LinProcess3"/>
    <dgm:cxn modelId="{36884E1A-39D3-4491-AFD6-BCBC6392A59E}" type="presOf" srcId="{CE11A269-561D-4BA1-BC45-87F6759FD368}" destId="{E8E0C55E-232A-41CA-87BA-45B86ABED6ED}" srcOrd="1" destOrd="0" presId="urn:microsoft.com/office/officeart/2016/7/layout/LinProcess3"/>
    <dgm:cxn modelId="{2229DB1B-DE4F-469E-8FA0-07BEC5B5F9D6}" type="presOf" srcId="{10254594-A53F-49FE-B0F2-BC233EE7109F}" destId="{9718E67E-2C8C-4093-AB5F-E3BEFAAEA31B}" srcOrd="0" destOrd="0" presId="urn:microsoft.com/office/officeart/2016/7/layout/LinProcess3"/>
    <dgm:cxn modelId="{0C140A6B-1B4A-4553-81FF-5591D9487696}" type="presOf" srcId="{C2A3EC29-44BC-4E51-92DE-E27BF9CD4489}" destId="{3AF3868F-681F-4EF9-8B83-F3B0F354A4C4}" srcOrd="0" destOrd="0" presId="urn:microsoft.com/office/officeart/2016/7/layout/LinProcess3"/>
    <dgm:cxn modelId="{025C3756-4F90-42F6-B826-13223FDABED0}" type="presOf" srcId="{547F8894-C324-4B84-95BE-A51E4FE0FA16}" destId="{8157E768-0524-44F1-8F00-7DF53576D2D6}" srcOrd="0" destOrd="0" presId="urn:microsoft.com/office/officeart/2016/7/layout/LinProcess3"/>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469CA3A1-2EC0-458C-B828-8121A2D4750A}" type="presOf" srcId="{BB0ECF89-2783-4E78-A209-A16EF114A1AA}" destId="{ACE795D8-4182-4DF1-B098-DD0AD48044C8}" srcOrd="0" destOrd="0" presId="urn:microsoft.com/office/officeart/2016/7/layout/LinProcess3"/>
    <dgm:cxn modelId="{C8A4ECC3-0B95-497F-8D57-1124DFD9842C}" type="presOf" srcId="{C2A3EC29-44BC-4E51-92DE-E27BF9CD4489}" destId="{90A7E684-CAA3-435E-B654-85F1BA7D2B87}" srcOrd="1" destOrd="0" presId="urn:microsoft.com/office/officeart/2016/7/layout/LinProcess3"/>
    <dgm:cxn modelId="{13094BE1-4993-450F-9A18-CF0E62019EF7}" type="presOf" srcId="{FFB58190-E438-47AF-86F3-FAEC2813ACF1}" destId="{39A872F9-A5B8-4211-9FCD-79722E167124}" srcOrd="0" destOrd="0" presId="urn:microsoft.com/office/officeart/2016/7/layout/LinProcess3"/>
    <dgm:cxn modelId="{8A5C10EE-3A87-49FC-9945-C0118988EF8D}" type="presOf" srcId="{C9DED455-19B5-45BA-AEF1-572CA46E947B}" destId="{AFA09309-0DCE-4477-82D3-AAF980A85A37}" srcOrd="0" destOrd="0" presId="urn:microsoft.com/office/officeart/2016/7/layout/LinProcess3"/>
    <dgm:cxn modelId="{D24113F0-9FAB-4A26-B7AA-17C02606FE1D}" type="presOf" srcId="{FFB58190-E438-47AF-86F3-FAEC2813ACF1}" destId="{3DFCE59B-AEDE-4DE2-8B09-D05F047AB42F}" srcOrd="1" destOrd="0" presId="urn:microsoft.com/office/officeart/2016/7/layout/LinProcess3"/>
    <dgm:cxn modelId="{76481A27-79A5-48E5-BA29-16004448893C}" type="presParOf" srcId="{ACE795D8-4182-4DF1-B098-DD0AD48044C8}" destId="{01457034-7B47-4E8B-B040-E0565D08290C}" srcOrd="0" destOrd="0" presId="urn:microsoft.com/office/officeart/2016/7/layout/LinProcess3"/>
    <dgm:cxn modelId="{86BEA9C1-5DDA-42C2-937D-A7130110FF74}" type="presParOf" srcId="{01457034-7B47-4E8B-B040-E0565D08290C}" destId="{39A872F9-A5B8-4211-9FCD-79722E167124}" srcOrd="0" destOrd="0" presId="urn:microsoft.com/office/officeart/2016/7/layout/LinProcess3"/>
    <dgm:cxn modelId="{7DC5639C-5BDF-4F6D-A737-811AEFB16C12}" type="presParOf" srcId="{01457034-7B47-4E8B-B040-E0565D08290C}" destId="{8157E768-0524-44F1-8F00-7DF53576D2D6}" srcOrd="1" destOrd="0" presId="urn:microsoft.com/office/officeart/2016/7/layout/LinProcess3"/>
    <dgm:cxn modelId="{9BE7A881-53AA-46A4-B4D9-5952CA3DDD83}" type="presParOf" srcId="{01457034-7B47-4E8B-B040-E0565D08290C}" destId="{676D607A-85D2-4EAF-B264-A9D94B61A4FF}" srcOrd="2" destOrd="0" presId="urn:microsoft.com/office/officeart/2016/7/layout/LinProcess3"/>
    <dgm:cxn modelId="{3CDC6E8B-95DF-4144-9A43-8F1F01D9B5EA}" type="presParOf" srcId="{01457034-7B47-4E8B-B040-E0565D08290C}" destId="{3DFCE59B-AEDE-4DE2-8B09-D05F047AB42F}" srcOrd="3" destOrd="0" presId="urn:microsoft.com/office/officeart/2016/7/layout/LinProcess3"/>
    <dgm:cxn modelId="{050D0D46-967C-45EE-A82A-AD10E04485C1}" type="presParOf" srcId="{ACE795D8-4182-4DF1-B098-DD0AD48044C8}" destId="{AD65492C-54BB-4101-B1E0-86F57716A25E}" srcOrd="1" destOrd="0" presId="urn:microsoft.com/office/officeart/2016/7/layout/LinProcess3"/>
    <dgm:cxn modelId="{C5C3B0C4-18DC-4916-ABAF-6A287C00BAA9}" type="presParOf" srcId="{ACE795D8-4182-4DF1-B098-DD0AD48044C8}" destId="{9A0277E3-55B2-4FAA-BDD3-FFC27311B05B}" srcOrd="2" destOrd="0" presId="urn:microsoft.com/office/officeart/2016/7/layout/LinProcess3"/>
    <dgm:cxn modelId="{FA398688-6697-4B8B-A789-FF729FC50671}" type="presParOf" srcId="{9A0277E3-55B2-4FAA-BDD3-FFC27311B05B}" destId="{AE95CEBE-1AD7-41D4-9CEE-5BA77CA8C01E}" srcOrd="0" destOrd="0" presId="urn:microsoft.com/office/officeart/2016/7/layout/LinProcess3"/>
    <dgm:cxn modelId="{67EE8417-B6AF-43C7-AA8C-3B90AB6AE1FE}" type="presParOf" srcId="{9A0277E3-55B2-4FAA-BDD3-FFC27311B05B}" destId="{AFA09309-0DCE-4477-82D3-AAF980A85A37}" srcOrd="1" destOrd="0" presId="urn:microsoft.com/office/officeart/2016/7/layout/LinProcess3"/>
    <dgm:cxn modelId="{5CE89ECF-B3C2-499B-BBDE-19538F56547F}" type="presParOf" srcId="{9A0277E3-55B2-4FAA-BDD3-FFC27311B05B}" destId="{70685E0F-5EC9-4D84-80D5-F2F78DC3CFFC}" srcOrd="2" destOrd="0" presId="urn:microsoft.com/office/officeart/2016/7/layout/LinProcess3"/>
    <dgm:cxn modelId="{D77D220A-12C7-4499-9660-B4B666A87129}" type="presParOf" srcId="{9A0277E3-55B2-4FAA-BDD3-FFC27311B05B}" destId="{E8E0C55E-232A-41CA-87BA-45B86ABED6ED}" srcOrd="3" destOrd="0" presId="urn:microsoft.com/office/officeart/2016/7/layout/LinProcess3"/>
    <dgm:cxn modelId="{F3EEB326-7683-4D4B-BE0D-D7CC3EE67CB3}" type="presParOf" srcId="{ACE795D8-4182-4DF1-B098-DD0AD48044C8}" destId="{556726A2-0416-41E0-99B4-BCA6885784BC}" srcOrd="3" destOrd="0" presId="urn:microsoft.com/office/officeart/2016/7/layout/LinProcess3"/>
    <dgm:cxn modelId="{1694C3CA-CE7E-4D7A-B769-94D0C473B6D9}" type="presParOf" srcId="{ACE795D8-4182-4DF1-B098-DD0AD48044C8}" destId="{F4C4AEC7-6D64-4C71-ADC5-0F5CC45360C6}" srcOrd="4" destOrd="0" presId="urn:microsoft.com/office/officeart/2016/7/layout/LinProcess3"/>
    <dgm:cxn modelId="{01DA811B-E595-4B26-916D-A5B9420780B1}" type="presParOf" srcId="{F4C4AEC7-6D64-4C71-ADC5-0F5CC45360C6}" destId="{3AF3868F-681F-4EF9-8B83-F3B0F354A4C4}" srcOrd="0" destOrd="0" presId="urn:microsoft.com/office/officeart/2016/7/layout/LinProcess3"/>
    <dgm:cxn modelId="{65C50157-4E89-44E0-ADFE-2CDCD946EC0C}" type="presParOf" srcId="{F4C4AEC7-6D64-4C71-ADC5-0F5CC45360C6}" destId="{9718E67E-2C8C-4093-AB5F-E3BEFAAEA31B}" srcOrd="1" destOrd="0" presId="urn:microsoft.com/office/officeart/2016/7/layout/LinProcess3"/>
    <dgm:cxn modelId="{03312845-43B9-45C8-960A-3A8CADC652DB}" type="presParOf" srcId="{F4C4AEC7-6D64-4C71-ADC5-0F5CC45360C6}" destId="{13CAC05E-7817-4F00-94BF-9DC0F20DF1D8}" srcOrd="2" destOrd="0" presId="urn:microsoft.com/office/officeart/2016/7/layout/LinProcess3"/>
    <dgm:cxn modelId="{D7A81CCE-E542-4242-8542-3C297BE2D6C9}" type="presParOf" srcId="{F4C4AEC7-6D64-4C71-ADC5-0F5CC45360C6}" destId="{90A7E684-CAA3-435E-B654-85F1BA7D2B87}" srcOrd="3" destOrd="0" presId="urn:microsoft.com/office/officeart/2016/7/layout/Lin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Node MCU basics</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Sensors and Data Fetching</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Wi-fi and IOT</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3</a:t>
          </a:r>
          <a:r>
            <a:rPr lang="en-GB" sz="1900" kern="1200" baseline="30000" noProof="0" dirty="0">
              <a:solidFill>
                <a:schemeClr val="bg1"/>
              </a:solidFill>
            </a:rPr>
            <a:t>rd</a:t>
          </a:r>
          <a:r>
            <a:rPr lang="en-GB" sz="1900" kern="1200" noProof="0" dirty="0">
              <a:solidFill>
                <a:schemeClr val="bg1"/>
              </a:solidFill>
            </a:rPr>
            <a:t> Party Applications</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IOT Project</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72F9-A5B8-4211-9FCD-79722E167124}">
      <dsp:nvSpPr>
        <dsp:cNvPr id="0" name=""/>
        <dsp:cNvSpPr/>
      </dsp:nvSpPr>
      <dsp:spPr>
        <a:xfrm>
          <a:off x="0"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889000" rtl="0">
            <a:lnSpc>
              <a:spcPct val="90000"/>
            </a:lnSpc>
            <a:spcBef>
              <a:spcPct val="0"/>
            </a:spcBef>
            <a:spcAft>
              <a:spcPct val="35000"/>
            </a:spcAft>
            <a:buNone/>
          </a:pPr>
          <a:r>
            <a:rPr lang="en-GB" sz="2000" b="1" kern="1200" noProof="1">
              <a:solidFill>
                <a:schemeClr val="bg1"/>
              </a:solidFill>
            </a:rPr>
            <a:t>Wi-Fi Connectivity</a:t>
          </a:r>
        </a:p>
        <a:p>
          <a:pPr marL="0" lvl="0" indent="0" algn="l" defTabSz="889000" rtl="0">
            <a:lnSpc>
              <a:spcPct val="90000"/>
            </a:lnSpc>
            <a:spcBef>
              <a:spcPct val="0"/>
            </a:spcBef>
            <a:spcAft>
              <a:spcPct val="35000"/>
            </a:spcAft>
            <a:buNone/>
          </a:pPr>
          <a:r>
            <a:rPr lang="en-GB" sz="1400" kern="1200" noProof="1">
              <a:solidFill>
                <a:schemeClr val="bg1"/>
              </a:solidFill>
            </a:rPr>
            <a:t>The ESP8266 is renowned for its robust Wi-Fi capabilities, which allow it to connect to the internet and other devices seamlessly. </a:t>
          </a:r>
        </a:p>
        <a:p>
          <a:pPr marL="0" lvl="0" indent="0" algn="l" defTabSz="889000" rtl="0">
            <a:lnSpc>
              <a:spcPct val="90000"/>
            </a:lnSpc>
            <a:spcBef>
              <a:spcPct val="0"/>
            </a:spcBef>
            <a:spcAft>
              <a:spcPct val="35000"/>
            </a:spcAft>
            <a:buNone/>
          </a:pPr>
          <a:r>
            <a:rPr lang="en-GB" sz="1400" kern="1200" noProof="1">
              <a:solidFill>
                <a:schemeClr val="bg1"/>
              </a:solidFill>
            </a:rPr>
            <a:t>It supports all standard Wi-Fi protocols (802.11 b/g/n). This means it can join existing Wi-Fi networks or create its own.</a:t>
          </a:r>
        </a:p>
      </dsp:txBody>
      <dsp:txXfrm>
        <a:off x="0" y="1653508"/>
        <a:ext cx="3286125" cy="2610802"/>
      </dsp:txXfrm>
    </dsp:sp>
    <dsp:sp modelId="{8157E768-0524-44F1-8F00-7DF53576D2D6}">
      <dsp:nvSpPr>
        <dsp:cNvPr id="0" name=""/>
        <dsp:cNvSpPr/>
      </dsp:nvSpPr>
      <dsp:spPr>
        <a:xfrm>
          <a:off x="1620204" y="985308"/>
          <a:ext cx="45715" cy="205052"/>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rtlCol="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a:off x="1620204" y="985308"/>
        <a:ext cx="45715" cy="205052"/>
      </dsp:txXfrm>
    </dsp:sp>
    <dsp:sp modelId="{676D607A-85D2-4EAF-B264-A9D94B61A4FF}">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CEBE-1AD7-41D4-9CEE-5BA77CA8C01E}">
      <dsp:nvSpPr>
        <dsp:cNvPr id="0" name=""/>
        <dsp:cNvSpPr/>
      </dsp:nvSpPr>
      <dsp:spPr>
        <a:xfrm>
          <a:off x="3614737"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GPIO</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The ESP8266 offers up to 17 GPIO pins, which can be used to interface with various external devices like sensors, LEDs, and other peripherals. These GPIO pins can be programmed to perform a wide range of functions</a:t>
          </a:r>
        </a:p>
      </dsp:txBody>
      <dsp:txXfrm>
        <a:off x="3614737" y="1653508"/>
        <a:ext cx="3286125" cy="2610802"/>
      </dsp:txXfrm>
    </dsp:sp>
    <dsp:sp modelId="{AFA09309-0DCE-4477-82D3-AAF980A85A37}">
      <dsp:nvSpPr>
        <dsp:cNvPr id="0" name=""/>
        <dsp:cNvSpPr/>
      </dsp:nvSpPr>
      <dsp:spPr>
        <a:xfrm flipH="1" flipV="1">
          <a:off x="5054601" y="909098"/>
          <a:ext cx="191763" cy="245546"/>
        </a:xfrm>
        <a:prstGeom prst="ellipse">
          <a:avLst/>
        </a:prstGeom>
        <a:solidFill>
          <a:schemeClr val="tx1"/>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rot="10800000">
        <a:off x="5082684" y="945057"/>
        <a:ext cx="135597" cy="173628"/>
      </dsp:txXfrm>
    </dsp:sp>
    <dsp:sp modelId="{70685E0F-5EC9-4D84-80D5-F2F78DC3CFFC}">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3868F-681F-4EF9-8B83-F3B0F354A4C4}">
      <dsp:nvSpPr>
        <dsp:cNvPr id="0" name=""/>
        <dsp:cNvSpPr/>
      </dsp:nvSpPr>
      <dsp:spPr>
        <a:xfrm>
          <a:off x="7229475"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Power Management</a:t>
          </a:r>
          <a:r>
            <a:rPr lang="en-GB" sz="2000" kern="1200" dirty="0">
              <a:solidFill>
                <a:srgbClr val="FFFFFF"/>
              </a:solidFill>
              <a:latin typeface="Calibri"/>
              <a:ea typeface="+mn-ea"/>
              <a:cs typeface="+mn-cs"/>
            </a:rPr>
            <a:t>. </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It includes several power-saving modes, such as deep sleep, light sleep, and modem sleep. These modes allow the device to reduce its power consumption significantly when full operation is not required for battery-powered devices.</a:t>
          </a:r>
          <a:r>
            <a:rPr lang="en-GB" sz="1600" kern="1200" noProof="1">
              <a:solidFill>
                <a:srgbClr val="FFFFFF"/>
              </a:solidFill>
              <a:latin typeface="Calibri"/>
              <a:ea typeface="+mn-ea"/>
              <a:cs typeface="+mn-cs"/>
            </a:rPr>
            <a:t>. </a:t>
          </a:r>
        </a:p>
        <a:p>
          <a:pPr marL="0" lvl="0" indent="0" algn="l" defTabSz="711200" rtl="0">
            <a:lnSpc>
              <a:spcPct val="90000"/>
            </a:lnSpc>
            <a:spcBef>
              <a:spcPct val="0"/>
            </a:spcBef>
            <a:spcAft>
              <a:spcPct val="35000"/>
            </a:spcAft>
            <a:buNone/>
          </a:pPr>
          <a:endParaRPr lang="en-GB" sz="1600" kern="1200" dirty="0">
            <a:solidFill>
              <a:srgbClr val="FFFFFF"/>
            </a:solidFill>
            <a:latin typeface="Calibri"/>
            <a:ea typeface="+mn-ea"/>
            <a:cs typeface="+mn-cs"/>
          </a:endParaRPr>
        </a:p>
      </dsp:txBody>
      <dsp:txXfrm>
        <a:off x="7229475" y="1653508"/>
        <a:ext cx="3286125" cy="2610802"/>
      </dsp:txXfrm>
    </dsp:sp>
    <dsp:sp modelId="{9718E67E-2C8C-4093-AB5F-E3BEFAAEA31B}">
      <dsp:nvSpPr>
        <dsp:cNvPr id="0" name=""/>
        <dsp:cNvSpPr/>
      </dsp:nvSpPr>
      <dsp:spPr>
        <a:xfrm flipH="1" flipV="1">
          <a:off x="8805335" y="900633"/>
          <a:ext cx="83624" cy="262477"/>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rtlCol="0" anchor="ctr" anchorCtr="0">
          <a:noAutofit/>
        </a:bodyPr>
        <a:lstStyle/>
        <a:p>
          <a:pPr marL="0" lvl="0" indent="0" algn="ctr" defTabSz="711200" rtl="0">
            <a:lnSpc>
              <a:spcPct val="90000"/>
            </a:lnSpc>
            <a:spcBef>
              <a:spcPct val="0"/>
            </a:spcBef>
            <a:spcAft>
              <a:spcPct val="35000"/>
            </a:spcAft>
            <a:buNone/>
          </a:pPr>
          <a:endParaRPr lang="en-GB" sz="1600" kern="1200" dirty="0"/>
        </a:p>
      </dsp:txBody>
      <dsp:txXfrm rot="10800000">
        <a:off x="8805335" y="900633"/>
        <a:ext cx="83624" cy="262477"/>
      </dsp:txXfrm>
    </dsp:sp>
    <dsp:sp modelId="{13CAC05E-7817-4F00-94BF-9DC0F20DF1D8}">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72F9-A5B8-4211-9FCD-79722E167124}">
      <dsp:nvSpPr>
        <dsp:cNvPr id="0" name=""/>
        <dsp:cNvSpPr/>
      </dsp:nvSpPr>
      <dsp:spPr>
        <a:xfrm>
          <a:off x="0"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889000" rtl="0">
            <a:lnSpc>
              <a:spcPct val="90000"/>
            </a:lnSpc>
            <a:spcBef>
              <a:spcPct val="0"/>
            </a:spcBef>
            <a:spcAft>
              <a:spcPct val="35000"/>
            </a:spcAft>
            <a:buNone/>
          </a:pPr>
          <a:r>
            <a:rPr lang="en-GB" sz="2000" b="1" kern="1200" noProof="1">
              <a:solidFill>
                <a:schemeClr val="bg1"/>
              </a:solidFill>
            </a:rPr>
            <a:t>Arduino</a:t>
          </a:r>
        </a:p>
        <a:p>
          <a:pPr marL="0" lvl="0" indent="0" algn="l" defTabSz="889000" rtl="0">
            <a:lnSpc>
              <a:spcPct val="90000"/>
            </a:lnSpc>
            <a:spcBef>
              <a:spcPct val="0"/>
            </a:spcBef>
            <a:spcAft>
              <a:spcPct val="35000"/>
            </a:spcAft>
            <a:buNone/>
          </a:pPr>
          <a:r>
            <a:rPr lang="en-GB" sz="1600" kern="1200" noProof="1">
              <a:solidFill>
                <a:schemeClr val="bg1"/>
              </a:solidFill>
            </a:rPr>
            <a:t>-Clock speed 16 MHz</a:t>
          </a:r>
        </a:p>
        <a:p>
          <a:pPr marL="0" lvl="0" indent="0" algn="l" defTabSz="889000" rtl="0">
            <a:lnSpc>
              <a:spcPct val="90000"/>
            </a:lnSpc>
            <a:spcBef>
              <a:spcPct val="0"/>
            </a:spcBef>
            <a:spcAft>
              <a:spcPct val="35000"/>
            </a:spcAft>
            <a:buNone/>
          </a:pPr>
          <a:r>
            <a:rPr lang="en-GB" sz="1600" kern="1200" noProof="1">
              <a:solidFill>
                <a:schemeClr val="bg1"/>
              </a:solidFill>
            </a:rPr>
            <a:t>-Operates at 5V</a:t>
          </a:r>
        </a:p>
        <a:p>
          <a:pPr marL="0" lvl="0" indent="0" algn="l" defTabSz="889000" rtl="0">
            <a:lnSpc>
              <a:spcPct val="90000"/>
            </a:lnSpc>
            <a:spcBef>
              <a:spcPct val="0"/>
            </a:spcBef>
            <a:spcAft>
              <a:spcPct val="35000"/>
            </a:spcAft>
            <a:buNone/>
          </a:pPr>
          <a:r>
            <a:rPr lang="en-GB" sz="1600" kern="1200" noProof="1">
              <a:solidFill>
                <a:schemeClr val="bg1"/>
              </a:solidFill>
            </a:rPr>
            <a:t>-No built in wifi</a:t>
          </a:r>
        </a:p>
        <a:p>
          <a:pPr marL="0" lvl="0" indent="0" algn="l" defTabSz="889000" rtl="0">
            <a:lnSpc>
              <a:spcPct val="90000"/>
            </a:lnSpc>
            <a:spcBef>
              <a:spcPct val="0"/>
            </a:spcBef>
            <a:spcAft>
              <a:spcPct val="35000"/>
            </a:spcAft>
            <a:buNone/>
          </a:pPr>
          <a:r>
            <a:rPr lang="en-GB" sz="1600" kern="1200" noProof="1">
              <a:solidFill>
                <a:schemeClr val="bg1"/>
              </a:solidFill>
            </a:rPr>
            <a:t>-No inbuilt sensors</a:t>
          </a:r>
        </a:p>
      </dsp:txBody>
      <dsp:txXfrm>
        <a:off x="0" y="1653508"/>
        <a:ext cx="3286125" cy="2610802"/>
      </dsp:txXfrm>
    </dsp:sp>
    <dsp:sp modelId="{8157E768-0524-44F1-8F00-7DF53576D2D6}">
      <dsp:nvSpPr>
        <dsp:cNvPr id="0" name=""/>
        <dsp:cNvSpPr/>
      </dsp:nvSpPr>
      <dsp:spPr>
        <a:xfrm>
          <a:off x="1620204" y="985308"/>
          <a:ext cx="45715" cy="205052"/>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rtlCol="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a:off x="1620204" y="985308"/>
        <a:ext cx="45715" cy="205052"/>
      </dsp:txXfrm>
    </dsp:sp>
    <dsp:sp modelId="{676D607A-85D2-4EAF-B264-A9D94B61A4FF}">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CEBE-1AD7-41D4-9CEE-5BA77CA8C01E}">
      <dsp:nvSpPr>
        <dsp:cNvPr id="0" name=""/>
        <dsp:cNvSpPr/>
      </dsp:nvSpPr>
      <dsp:spPr>
        <a:xfrm>
          <a:off x="3614737"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ESP 8266</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-Clock speed 160 MHz</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-Operates at 3.3V (voltage regulator)</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-Built in Wi-Fi</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-No inbuilt sensors</a:t>
          </a:r>
        </a:p>
      </dsp:txBody>
      <dsp:txXfrm>
        <a:off x="3614737" y="1653508"/>
        <a:ext cx="3286125" cy="2610802"/>
      </dsp:txXfrm>
    </dsp:sp>
    <dsp:sp modelId="{AFA09309-0DCE-4477-82D3-AAF980A85A37}">
      <dsp:nvSpPr>
        <dsp:cNvPr id="0" name=""/>
        <dsp:cNvSpPr/>
      </dsp:nvSpPr>
      <dsp:spPr>
        <a:xfrm flipH="1" flipV="1">
          <a:off x="5054601" y="909098"/>
          <a:ext cx="191763" cy="245546"/>
        </a:xfrm>
        <a:prstGeom prst="ellipse">
          <a:avLst/>
        </a:prstGeom>
        <a:solidFill>
          <a:schemeClr val="tx1"/>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rot="10800000">
        <a:off x="5082684" y="945057"/>
        <a:ext cx="135597" cy="173628"/>
      </dsp:txXfrm>
    </dsp:sp>
    <dsp:sp modelId="{70685E0F-5EC9-4D84-80D5-F2F78DC3CFFC}">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3868F-681F-4EF9-8B83-F3B0F354A4C4}">
      <dsp:nvSpPr>
        <dsp:cNvPr id="0" name=""/>
        <dsp:cNvSpPr/>
      </dsp:nvSpPr>
      <dsp:spPr>
        <a:xfrm>
          <a:off x="7229475"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ESP 32</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-Clock speed 240 MHz</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-Operates at 3.3V(voltage regulator)</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-Built in Wi-Fi and Bluetooth, BLE</a:t>
          </a:r>
        </a:p>
        <a:p>
          <a:pPr marL="0" lvl="0" indent="0" algn="l" defTabSz="711200" rtl="0">
            <a:lnSpc>
              <a:spcPct val="90000"/>
            </a:lnSpc>
            <a:spcBef>
              <a:spcPct val="0"/>
            </a:spcBef>
            <a:spcAft>
              <a:spcPct val="35000"/>
            </a:spcAft>
            <a:buNone/>
          </a:pPr>
          <a:r>
            <a:rPr lang="en-GB" sz="1600" kern="1200" dirty="0">
              <a:solidFill>
                <a:srgbClr val="FFFFFF"/>
              </a:solidFill>
              <a:latin typeface="Calibri"/>
              <a:ea typeface="+mn-ea"/>
              <a:cs typeface="+mn-cs"/>
            </a:rPr>
            <a:t>-Has Inbuilt sensors (Temp, Hall effect, Capacitive touch)</a:t>
          </a:r>
        </a:p>
      </dsp:txBody>
      <dsp:txXfrm>
        <a:off x="7229475" y="1653508"/>
        <a:ext cx="3286125" cy="2610802"/>
      </dsp:txXfrm>
    </dsp:sp>
    <dsp:sp modelId="{9718E67E-2C8C-4093-AB5F-E3BEFAAEA31B}">
      <dsp:nvSpPr>
        <dsp:cNvPr id="0" name=""/>
        <dsp:cNvSpPr/>
      </dsp:nvSpPr>
      <dsp:spPr>
        <a:xfrm flipH="1" flipV="1">
          <a:off x="8824289" y="1009014"/>
          <a:ext cx="45715" cy="45715"/>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rtlCol="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rot="10800000">
        <a:off x="8824289" y="1009014"/>
        <a:ext cx="45715" cy="45715"/>
      </dsp:txXfrm>
    </dsp:sp>
    <dsp:sp modelId="{13CAC05E-7817-4F00-94BF-9DC0F20DF1D8}">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Process3">
  <dgm:title val="Basic Linear Process"/>
  <dgm:desc val=""/>
  <dgm:catLst>
    <dgm:cat type="list" pri="500"/>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Process3">
  <dgm:title val="Basic Linear Process"/>
  <dgm:desc val=""/>
  <dgm:catLst>
    <dgm:cat type="list" pri="500"/>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2A0E93-0B7A-5C13-635B-5AE1B20578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5BDAA9B-F31D-35E6-E5AA-06E8EC5B0F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F73E4D-7563-4F76-ADC9-0F66D036A5B9}" type="datetime1">
              <a:rPr lang="en-GB" smtClean="0"/>
              <a:t>30/06/2024</a:t>
            </a:fld>
            <a:endParaRPr lang="en-GB"/>
          </a:p>
        </p:txBody>
      </p:sp>
      <p:sp>
        <p:nvSpPr>
          <p:cNvPr id="4" name="Footer Placeholder 3">
            <a:extLst>
              <a:ext uri="{FF2B5EF4-FFF2-40B4-BE49-F238E27FC236}">
                <a16:creationId xmlns:a16="http://schemas.microsoft.com/office/drawing/2014/main" id="{08F2F590-9A29-EF28-537E-2046C8BF7F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64437D7-79BA-7C86-1334-150D38FAE5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463FD1-D84F-4509-80AB-376580843BF9}" type="slidenum">
              <a:rPr lang="en-GB" smtClean="0"/>
              <a:t>‹#›</a:t>
            </a:fld>
            <a:endParaRPr lang="en-GB"/>
          </a:p>
        </p:txBody>
      </p:sp>
    </p:spTree>
    <p:extLst>
      <p:ext uri="{BB962C8B-B14F-4D97-AF65-F5344CB8AC3E}">
        <p14:creationId xmlns:p14="http://schemas.microsoft.com/office/powerpoint/2010/main" val="2803861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406514E-C3AA-4F57-9A80-A62F44B69B3C}" type="datetime1">
              <a:rPr lang="en-GB" noProof="0" smtClean="0"/>
              <a:t>30/06/2024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F28A1F-3E69-47E5-AE93-E7F2155A242D}" type="slidenum">
              <a:rPr lang="en-GB" noProof="0" smtClean="0"/>
              <a:t>‹#›</a:t>
            </a:fld>
            <a:endParaRPr lang="en-GB" noProof="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a:t>
            </a:fld>
            <a:endParaRPr lang="en-GB"/>
          </a:p>
        </p:txBody>
      </p:sp>
    </p:spTree>
    <p:extLst>
      <p:ext uri="{BB962C8B-B14F-4D97-AF65-F5344CB8AC3E}">
        <p14:creationId xmlns:p14="http://schemas.microsoft.com/office/powerpoint/2010/main" val="326213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a:t>
            </a:fld>
            <a:endParaRPr lang="en-GB"/>
          </a:p>
        </p:txBody>
      </p:sp>
    </p:spTree>
    <p:extLst>
      <p:ext uri="{BB962C8B-B14F-4D97-AF65-F5344CB8AC3E}">
        <p14:creationId xmlns:p14="http://schemas.microsoft.com/office/powerpoint/2010/main" val="4094949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3</a:t>
            </a:fld>
            <a:endParaRPr lang="en-GB"/>
          </a:p>
        </p:txBody>
      </p:sp>
    </p:spTree>
    <p:extLst>
      <p:ext uri="{BB962C8B-B14F-4D97-AF65-F5344CB8AC3E}">
        <p14:creationId xmlns:p14="http://schemas.microsoft.com/office/powerpoint/2010/main" val="344719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4</a:t>
            </a:fld>
            <a:endParaRPr lang="en-GB"/>
          </a:p>
        </p:txBody>
      </p:sp>
    </p:spTree>
    <p:extLst>
      <p:ext uri="{BB962C8B-B14F-4D97-AF65-F5344CB8AC3E}">
        <p14:creationId xmlns:p14="http://schemas.microsoft.com/office/powerpoint/2010/main" val="1794402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5</a:t>
            </a:fld>
            <a:endParaRPr lang="en-GB"/>
          </a:p>
        </p:txBody>
      </p:sp>
    </p:spTree>
    <p:extLst>
      <p:ext uri="{BB962C8B-B14F-4D97-AF65-F5344CB8AC3E}">
        <p14:creationId xmlns:p14="http://schemas.microsoft.com/office/powerpoint/2010/main" val="383399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6</a:t>
            </a:fld>
            <a:endParaRPr lang="en-GB"/>
          </a:p>
        </p:txBody>
      </p:sp>
    </p:spTree>
    <p:extLst>
      <p:ext uri="{BB962C8B-B14F-4D97-AF65-F5344CB8AC3E}">
        <p14:creationId xmlns:p14="http://schemas.microsoft.com/office/powerpoint/2010/main" val="1969671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7</a:t>
            </a:fld>
            <a:endParaRPr lang="en-GB"/>
          </a:p>
        </p:txBody>
      </p:sp>
    </p:spTree>
    <p:extLst>
      <p:ext uri="{BB962C8B-B14F-4D97-AF65-F5344CB8AC3E}">
        <p14:creationId xmlns:p14="http://schemas.microsoft.com/office/powerpoint/2010/main" val="1366763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8</a:t>
            </a:fld>
            <a:endParaRPr lang="en-GB"/>
          </a:p>
        </p:txBody>
      </p:sp>
    </p:spTree>
    <p:extLst>
      <p:ext uri="{BB962C8B-B14F-4D97-AF65-F5344CB8AC3E}">
        <p14:creationId xmlns:p14="http://schemas.microsoft.com/office/powerpoint/2010/main" val="2949839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228B34ED-4CDD-41C9-90F7-D768D5559A6F}" type="slidenum">
              <a:rPr lang="en-GB" smtClean="0"/>
              <a:t>9</a:t>
            </a:fld>
            <a:endParaRPr lang="en-GB"/>
          </a:p>
        </p:txBody>
      </p:sp>
    </p:spTree>
    <p:extLst>
      <p:ext uri="{BB962C8B-B14F-4D97-AF65-F5344CB8AC3E}">
        <p14:creationId xmlns:p14="http://schemas.microsoft.com/office/powerpoint/2010/main" val="3552508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10</a:t>
            </a:fld>
            <a:endParaRPr lang="en-GB"/>
          </a:p>
        </p:txBody>
      </p:sp>
    </p:spTree>
    <p:extLst>
      <p:ext uri="{BB962C8B-B14F-4D97-AF65-F5344CB8AC3E}">
        <p14:creationId xmlns:p14="http://schemas.microsoft.com/office/powerpoint/2010/main" val="463158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11</a:t>
            </a:fld>
            <a:endParaRPr lang="en-GB"/>
          </a:p>
        </p:txBody>
      </p:sp>
    </p:spTree>
    <p:extLst>
      <p:ext uri="{BB962C8B-B14F-4D97-AF65-F5344CB8AC3E}">
        <p14:creationId xmlns:p14="http://schemas.microsoft.com/office/powerpoint/2010/main" val="730720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12</a:t>
            </a:fld>
            <a:endParaRPr lang="en-GB"/>
          </a:p>
        </p:txBody>
      </p:sp>
    </p:spTree>
    <p:extLst>
      <p:ext uri="{BB962C8B-B14F-4D97-AF65-F5344CB8AC3E}">
        <p14:creationId xmlns:p14="http://schemas.microsoft.com/office/powerpoint/2010/main" val="4201715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13</a:t>
            </a:fld>
            <a:endParaRPr lang="en-GB"/>
          </a:p>
        </p:txBody>
      </p:sp>
    </p:spTree>
    <p:extLst>
      <p:ext uri="{BB962C8B-B14F-4D97-AF65-F5344CB8AC3E}">
        <p14:creationId xmlns:p14="http://schemas.microsoft.com/office/powerpoint/2010/main" val="464354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14</a:t>
            </a:fld>
            <a:endParaRPr lang="en-GB"/>
          </a:p>
        </p:txBody>
      </p:sp>
    </p:spTree>
    <p:extLst>
      <p:ext uri="{BB962C8B-B14F-4D97-AF65-F5344CB8AC3E}">
        <p14:creationId xmlns:p14="http://schemas.microsoft.com/office/powerpoint/2010/main" val="2924547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15</a:t>
            </a:fld>
            <a:endParaRPr lang="en-GB"/>
          </a:p>
        </p:txBody>
      </p:sp>
    </p:spTree>
    <p:extLst>
      <p:ext uri="{BB962C8B-B14F-4D97-AF65-F5344CB8AC3E}">
        <p14:creationId xmlns:p14="http://schemas.microsoft.com/office/powerpoint/2010/main" val="3961123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16</a:t>
            </a:fld>
            <a:endParaRPr lang="en-GB"/>
          </a:p>
        </p:txBody>
      </p:sp>
    </p:spTree>
    <p:extLst>
      <p:ext uri="{BB962C8B-B14F-4D97-AF65-F5344CB8AC3E}">
        <p14:creationId xmlns:p14="http://schemas.microsoft.com/office/powerpoint/2010/main" val="2748168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17</a:t>
            </a:fld>
            <a:endParaRPr lang="en-GB"/>
          </a:p>
        </p:txBody>
      </p:sp>
    </p:spTree>
    <p:extLst>
      <p:ext uri="{BB962C8B-B14F-4D97-AF65-F5344CB8AC3E}">
        <p14:creationId xmlns:p14="http://schemas.microsoft.com/office/powerpoint/2010/main" val="1210379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18</a:t>
            </a:fld>
            <a:endParaRPr lang="en-GB"/>
          </a:p>
        </p:txBody>
      </p:sp>
    </p:spTree>
    <p:extLst>
      <p:ext uri="{BB962C8B-B14F-4D97-AF65-F5344CB8AC3E}">
        <p14:creationId xmlns:p14="http://schemas.microsoft.com/office/powerpoint/2010/main" val="3673459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19</a:t>
            </a:fld>
            <a:endParaRPr lang="en-GB"/>
          </a:p>
        </p:txBody>
      </p:sp>
    </p:spTree>
    <p:extLst>
      <p:ext uri="{BB962C8B-B14F-4D97-AF65-F5344CB8AC3E}">
        <p14:creationId xmlns:p14="http://schemas.microsoft.com/office/powerpoint/2010/main" val="3763958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20</a:t>
            </a:fld>
            <a:endParaRPr lang="en-GB"/>
          </a:p>
        </p:txBody>
      </p:sp>
    </p:spTree>
    <p:extLst>
      <p:ext uri="{BB962C8B-B14F-4D97-AF65-F5344CB8AC3E}">
        <p14:creationId xmlns:p14="http://schemas.microsoft.com/office/powerpoint/2010/main" val="2691742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21</a:t>
            </a:fld>
            <a:endParaRPr lang="en-GB"/>
          </a:p>
        </p:txBody>
      </p:sp>
    </p:spTree>
    <p:extLst>
      <p:ext uri="{BB962C8B-B14F-4D97-AF65-F5344CB8AC3E}">
        <p14:creationId xmlns:p14="http://schemas.microsoft.com/office/powerpoint/2010/main" val="70556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22</a:t>
            </a:fld>
            <a:endParaRPr lang="en-GB"/>
          </a:p>
        </p:txBody>
      </p:sp>
    </p:spTree>
    <p:extLst>
      <p:ext uri="{BB962C8B-B14F-4D97-AF65-F5344CB8AC3E}">
        <p14:creationId xmlns:p14="http://schemas.microsoft.com/office/powerpoint/2010/main" val="19664750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23</a:t>
            </a:fld>
            <a:endParaRPr lang="en-GB"/>
          </a:p>
        </p:txBody>
      </p:sp>
    </p:spTree>
    <p:extLst>
      <p:ext uri="{BB962C8B-B14F-4D97-AF65-F5344CB8AC3E}">
        <p14:creationId xmlns:p14="http://schemas.microsoft.com/office/powerpoint/2010/main" val="4126567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24</a:t>
            </a:fld>
            <a:endParaRPr lang="en-GB"/>
          </a:p>
        </p:txBody>
      </p:sp>
    </p:spTree>
    <p:extLst>
      <p:ext uri="{BB962C8B-B14F-4D97-AF65-F5344CB8AC3E}">
        <p14:creationId xmlns:p14="http://schemas.microsoft.com/office/powerpoint/2010/main" val="39213410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25</a:t>
            </a:fld>
            <a:endParaRPr lang="en-GB"/>
          </a:p>
        </p:txBody>
      </p:sp>
    </p:spTree>
    <p:extLst>
      <p:ext uri="{BB962C8B-B14F-4D97-AF65-F5344CB8AC3E}">
        <p14:creationId xmlns:p14="http://schemas.microsoft.com/office/powerpoint/2010/main" val="3432275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26</a:t>
            </a:fld>
            <a:endParaRPr lang="en-GB"/>
          </a:p>
        </p:txBody>
      </p:sp>
    </p:spTree>
    <p:extLst>
      <p:ext uri="{BB962C8B-B14F-4D97-AF65-F5344CB8AC3E}">
        <p14:creationId xmlns:p14="http://schemas.microsoft.com/office/powerpoint/2010/main" val="25839571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27</a:t>
            </a:fld>
            <a:endParaRPr lang="en-GB"/>
          </a:p>
        </p:txBody>
      </p:sp>
    </p:spTree>
    <p:extLst>
      <p:ext uri="{BB962C8B-B14F-4D97-AF65-F5344CB8AC3E}">
        <p14:creationId xmlns:p14="http://schemas.microsoft.com/office/powerpoint/2010/main" val="817726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28</a:t>
            </a:fld>
            <a:endParaRPr lang="en-GB"/>
          </a:p>
        </p:txBody>
      </p:sp>
    </p:spTree>
    <p:extLst>
      <p:ext uri="{BB962C8B-B14F-4D97-AF65-F5344CB8AC3E}">
        <p14:creationId xmlns:p14="http://schemas.microsoft.com/office/powerpoint/2010/main" val="4584766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29</a:t>
            </a:fld>
            <a:endParaRPr lang="en-GB"/>
          </a:p>
        </p:txBody>
      </p:sp>
    </p:spTree>
    <p:extLst>
      <p:ext uri="{BB962C8B-B14F-4D97-AF65-F5344CB8AC3E}">
        <p14:creationId xmlns:p14="http://schemas.microsoft.com/office/powerpoint/2010/main" val="298957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n-US" noProof="0"/>
              <a:t>Click to edit Master title style</a:t>
            </a:r>
            <a:endParaRPr lang="en-GB" noProof="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n-US" noProof="0"/>
              <a:t>Click to edit Master title style</a:t>
            </a:r>
            <a:endParaRPr lang="en-GB" noProof="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rtlCol="0">
            <a:spAutoFit/>
          </a:bodyPr>
          <a:lstStyle>
            <a:lvl1pPr>
              <a:lnSpc>
                <a:spcPct val="100000"/>
              </a:lnSpc>
              <a:defRPr sz="40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rtl="0">
              <a:lnSpc>
                <a:spcPct val="100000"/>
              </a:lnSpc>
            </a:pPr>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rtlCol="0">
            <a:spAutoFit/>
          </a:bodyPr>
          <a:lstStyle>
            <a:lvl1pPr>
              <a:lnSpc>
                <a:spcPct val="100000"/>
              </a:lnSpc>
              <a:defRPr sz="4000"/>
            </a:lvl1pPr>
          </a:lstStyle>
          <a:p>
            <a:pPr rtl="0"/>
            <a:r>
              <a:rPr lang="en-GB" noProof="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rtlCol="0" anchor="ctr">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rtlCol="0">
            <a:normAutofit/>
          </a:bodyPr>
          <a:lstStyle>
            <a:lvl1pPr>
              <a:lnSpc>
                <a:spcPct val="70000"/>
              </a:lnSpc>
              <a:defRPr sz="5200" spc="-15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rtlCol="0" anchor="ct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rtlCol="0"/>
          <a:lstStyle>
            <a:lvl1pPr>
              <a:defRPr>
                <a:solidFill>
                  <a:schemeClr val="tx1">
                    <a:lumMod val="85000"/>
                    <a:lumOff val="15000"/>
                  </a:schemeClr>
                </a:solidFill>
              </a:defRPr>
            </a:lvl1pPr>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rtlCol="0" anchor="t">
            <a:spAutoFit/>
          </a:bodyPr>
          <a:lstStyle>
            <a:lvl1pPr>
              <a:lnSpc>
                <a:spcPct val="100000"/>
              </a:lnSpc>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rtlCol="0" anchor="b"/>
          <a:lstStyle>
            <a:lvl1pPr>
              <a:defRPr sz="6000"/>
            </a:lvl1p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98533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rtlCol="0" anchor="ctr"/>
          <a:lstStyle>
            <a:lvl1pPr marL="0" indent="0"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rtlCol="0" anchor="t">
            <a:noAutofit/>
          </a:bodyPr>
          <a:lstStyle>
            <a:lvl1pPr algn="l">
              <a:lnSpc>
                <a:spcPct val="150000"/>
              </a:lnSpc>
              <a:spcBef>
                <a:spcPts val="1000"/>
              </a:spcBef>
              <a:defRPr sz="5400" baseline="0"/>
            </a:lvl1pPr>
          </a:lstStyle>
          <a:p>
            <a:pPr rtl="0"/>
            <a:r>
              <a:rPr lang="en-GB" noProof="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rtlCol="0"/>
          <a:lstStyle/>
          <a:p>
            <a:pPr rtl="0"/>
            <a:fld id="{8C2E478F-E849-4A8C-AF1F-CBCC78A7CBFA}" type="slidenum">
              <a:rPr lang="en-GB" noProof="0" smtClean="0"/>
              <a:t>‹#›</a:t>
            </a:fld>
            <a:endParaRPr lang="en-GB" noProof="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rtlCol="0">
            <a:noAutofit/>
          </a:bodyPr>
          <a:lstStyle>
            <a:lvl1pPr marL="0" indent="0">
              <a:buNone/>
              <a:defRPr sz="1800" spc="300"/>
            </a:lvl1pPr>
          </a:lstStyle>
          <a:p>
            <a:pPr lvl="0" rtl="0"/>
            <a:r>
              <a:rPr lang="en-GB" noProof="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3400388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n-GB"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n-GB" noProof="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Tree>
    <p:extLst>
      <p:ext uri="{BB962C8B-B14F-4D97-AF65-F5344CB8AC3E}">
        <p14:creationId xmlns:p14="http://schemas.microsoft.com/office/powerpoint/2010/main" val="4086128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rtlCol="0" anchor="b">
            <a:noAutofit/>
          </a:bodyPr>
          <a:lstStyle>
            <a:lvl1pPr>
              <a:defRPr sz="40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n-GB" noProof="0" smtClean="0"/>
              <a:t>‹#›</a:t>
            </a:fld>
            <a:endParaRPr lang="en-GB" noProof="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4119587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pPr rtl="0"/>
            <a:r>
              <a:rPr lang="en-GB" noProof="0"/>
              <a:t>PAGE </a:t>
            </a:r>
            <a:fld id="{4A9B5881-4007-4345-955A-79C2656F0C49}" type="slidenum">
              <a:rPr lang="en-GB" noProof="0" smtClean="0"/>
              <a:pPr/>
              <a:t>‹#›</a:t>
            </a:fld>
            <a:endParaRPr lang="en-GB" noProof="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 id="2147483667" r:id="rId15"/>
    <p:sldLayoutId id="2147483668" r:id="rId16"/>
    <p:sldLayoutId id="2147483669" r:id="rId17"/>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16.svg"/><Relationship Id="rId5" Type="http://schemas.openxmlformats.org/officeDocument/2006/relationships/diagramQuickStyle" Target="../diagrams/quickStyle2.xml"/><Relationship Id="rId10" Type="http://schemas.openxmlformats.org/officeDocument/2006/relationships/image" Target="../media/image3.png"/><Relationship Id="rId4" Type="http://schemas.openxmlformats.org/officeDocument/2006/relationships/diagramLayout" Target="../diagrams/layout2.xml"/><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3.xml"/><Relationship Id="rId11" Type="http://schemas.openxmlformats.org/officeDocument/2006/relationships/image" Target="../media/image16.svg"/><Relationship Id="rId5" Type="http://schemas.openxmlformats.org/officeDocument/2006/relationships/diagramQuickStyle" Target="../diagrams/quickStyle3.xml"/><Relationship Id="rId10" Type="http://schemas.openxmlformats.org/officeDocument/2006/relationships/image" Target="../media/image3.png"/><Relationship Id="rId4" Type="http://schemas.openxmlformats.org/officeDocument/2006/relationships/diagramLayout" Target="../diagrams/layout3.xml"/><Relationship Id="rId9"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IOT Workshop</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a:t>
            </a:r>
            <a:r>
              <a:rPr lang="en-GB" b="1" dirty="0"/>
              <a:t>KURC</a:t>
            </a:r>
            <a:r>
              <a:rPr lang="en-GB" dirty="0"/>
              <a:t> in collaboration with </a:t>
            </a:r>
            <a:r>
              <a:rPr lang="en-GB" b="1" dirty="0"/>
              <a:t>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a:t>1</a:t>
            </a:fld>
            <a:endParaRPr lang="en-GB"/>
          </a:p>
        </p:txBody>
      </p:sp>
    </p:spTree>
    <p:extLst>
      <p:ext uri="{BB962C8B-B14F-4D97-AF65-F5344CB8AC3E}">
        <p14:creationId xmlns:p14="http://schemas.microsoft.com/office/powerpoint/2010/main" val="113625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xfrm>
            <a:off x="0" y="0"/>
            <a:ext cx="4305300" cy="6870275"/>
          </a:xfrm>
          <a:solidFill>
            <a:schemeClr val="tx2"/>
          </a:solidFill>
        </p:spPr>
        <p:txBody>
          <a:bodyPr rtlCol="0"/>
          <a:lstStyle/>
          <a:p>
            <a:pPr algn="r" rtl="0"/>
            <a:r>
              <a:rPr lang="en-GB" sz="7200" b="1" dirty="0">
                <a:solidFill>
                  <a:schemeClr val="bg1"/>
                </a:solidFill>
              </a:rPr>
              <a:t>Course 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2492197175"/>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rtlCol="0"/>
          <a:lstStyle/>
          <a:p>
            <a:pPr rtl="0"/>
            <a:r>
              <a:rPr lang="en-GB"/>
              <a:t>PAGE </a:t>
            </a:r>
            <a:fld id="{4A9B5881-4007-4345-955A-79C2656F0C49}" type="slidenum">
              <a:rPr lang="en-GB" smtClean="0"/>
              <a:pPr/>
              <a:t>2</a:t>
            </a:fld>
            <a:endParaRPr lang="en-GB" dirty="0"/>
          </a:p>
        </p:txBody>
      </p:sp>
    </p:spTree>
    <p:extLst>
      <p:ext uri="{BB962C8B-B14F-4D97-AF65-F5344CB8AC3E}">
        <p14:creationId xmlns:p14="http://schemas.microsoft.com/office/powerpoint/2010/main" val="4080338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370" r="20370"/>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dirty="0"/>
              <a:t>What is  NodeMCU</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rtl="0"/>
            <a:r>
              <a:rPr lang="en-GB" dirty="0">
                <a:solidFill>
                  <a:schemeClr val="tx2"/>
                </a:solidFill>
              </a:rPr>
              <a:t>NodeMCU is an open-source firmware and development kit that helps you to prototype or build IoT (Internet of Things) products.</a:t>
            </a:r>
          </a:p>
          <a:p>
            <a:pPr rtl="0"/>
            <a:r>
              <a:rPr lang="en-GB" noProof="1">
                <a:solidFill>
                  <a:schemeClr val="tx2"/>
                </a:solidFill>
              </a:rPr>
              <a:t>The name "NodeMCU" combines "node" and "MCU" (micro-controller unit). Strictly speaking, the term "NodeMCU" refers to the firmware rather than the associated development kits.</a:t>
            </a:r>
          </a:p>
          <a:p>
            <a:pPr rtl="0"/>
            <a:r>
              <a:rPr lang="en-GB" noProof="1">
                <a:solidFill>
                  <a:schemeClr val="tx2"/>
                </a:solidFill>
              </a:rPr>
              <a:t>NodeMCU is a versatile and powerful tool for anyone interested in creating IoT projects. Its integration with the ESP8266 module, combined with support for multiple development environments, makes it a popular choice among developers and hobbyists alike. </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3</a:t>
            </a:fld>
            <a:endParaRPr lang="en-GB"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52289" y="635449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0" name="!!Rectangle 8">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Features</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Comparison</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Datasheet</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16983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50"/>
                                        <p:tgtEl>
                                          <p:spTgt spid="8"/>
                                        </p:tgtEl>
                                        <p:attrNameLst>
                                          <p:attrName>ppt_y</p:attrName>
                                        </p:attrNameLst>
                                      </p:cBhvr>
                                      <p:tavLst>
                                        <p:tav tm="0">
                                          <p:val>
                                            <p:strVal val="#ppt_y+#ppt_h*1.125000"/>
                                          </p:val>
                                        </p:tav>
                                        <p:tav tm="100000">
                                          <p:val>
                                            <p:strVal val="#ppt_y"/>
                                          </p:val>
                                        </p:tav>
                                      </p:tavLst>
                                    </p:anim>
                                    <p:animEffect transition="in" filter="wipe(up)">
                                      <p:cBhvr>
                                        <p:cTn id="8" dur="25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250"/>
                                        <p:tgtEl>
                                          <p:spTgt spid="14"/>
                                        </p:tgtEl>
                                      </p:cBhvr>
                                    </p:animEffect>
                                  </p:childTnLst>
                                </p:cTn>
                              </p:par>
                            </p:childTnLst>
                          </p:cTn>
                        </p:par>
                        <p:par>
                          <p:cTn id="12" fill="hold">
                            <p:stCondLst>
                              <p:cond delay="250"/>
                            </p:stCondLst>
                            <p:childTnLst>
                              <p:par>
                                <p:cTn id="13" presetID="1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250"/>
                                        <p:tgtEl>
                                          <p:spTgt spid="10"/>
                                        </p:tgtEl>
                                        <p:attrNameLst>
                                          <p:attrName>ppt_y</p:attrName>
                                        </p:attrNameLst>
                                      </p:cBhvr>
                                      <p:tavLst>
                                        <p:tav tm="0">
                                          <p:val>
                                            <p:strVal val="#ppt_y+#ppt_h*1.125000"/>
                                          </p:val>
                                        </p:tav>
                                        <p:tav tm="100000">
                                          <p:val>
                                            <p:strVal val="#ppt_y"/>
                                          </p:val>
                                        </p:tav>
                                      </p:tavLst>
                                    </p:anim>
                                    <p:animEffect transition="in" filter="wipe(up)">
                                      <p:cBhvr>
                                        <p:cTn id="16" dur="250"/>
                                        <p:tgtEl>
                                          <p:spTgt spid="10"/>
                                        </p:tgtEl>
                                      </p:cBhvr>
                                    </p:animEffect>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250"/>
                                        <p:tgtEl>
                                          <p:spTgt spid="11"/>
                                        </p:tgtEl>
                                        <p:attrNameLst>
                                          <p:attrName>ppt_y</p:attrName>
                                        </p:attrNameLst>
                                      </p:cBhvr>
                                      <p:tavLst>
                                        <p:tav tm="0">
                                          <p:val>
                                            <p:strVal val="#ppt_y+#ppt_h*1.125000"/>
                                          </p:val>
                                        </p:tav>
                                        <p:tav tm="100000">
                                          <p:val>
                                            <p:strVal val="#ppt_y"/>
                                          </p:val>
                                        </p:tav>
                                      </p:tavLst>
                                    </p:anim>
                                    <p:animEffect transition="in" filter="wipe(up)">
                                      <p:cBhvr>
                                        <p:cTn id="21" dur="250"/>
                                        <p:tgtEl>
                                          <p:spTgt spid="11"/>
                                        </p:tgtEl>
                                      </p:cBhvr>
                                    </p:animEffect>
                                  </p:childTnLst>
                                </p:cTn>
                              </p:par>
                            </p:childTnLst>
                          </p:cTn>
                        </p:par>
                        <p:par>
                          <p:cTn id="22" fill="hold">
                            <p:stCondLst>
                              <p:cond delay="750"/>
                            </p:stCondLst>
                            <p:childTnLst>
                              <p:par>
                                <p:cTn id="23" presetID="12" presetClass="entr" presetSubtype="4"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250"/>
                                        <p:tgtEl>
                                          <p:spTgt spid="12"/>
                                        </p:tgtEl>
                                        <p:attrNameLst>
                                          <p:attrName>ppt_y</p:attrName>
                                        </p:attrNameLst>
                                      </p:cBhvr>
                                      <p:tavLst>
                                        <p:tav tm="0">
                                          <p:val>
                                            <p:strVal val="#ppt_y+#ppt_h*1.125000"/>
                                          </p:val>
                                        </p:tav>
                                        <p:tav tm="100000">
                                          <p:val>
                                            <p:strVal val="#ppt_y"/>
                                          </p:val>
                                        </p:tav>
                                      </p:tavLst>
                                    </p:anim>
                                    <p:animEffect transition="in" filter="wipe(up)">
                                      <p:cBhvr>
                                        <p:cTn id="26"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855392-9FED-4979-8AC6-A73037648D43}"/>
              </a:ext>
            </a:extLst>
          </p:cNvPr>
          <p:cNvSpPr>
            <a:spLocks noGrp="1"/>
          </p:cNvSpPr>
          <p:nvPr>
            <p:ph type="title"/>
          </p:nvPr>
        </p:nvSpPr>
        <p:spPr>
          <a:xfrm>
            <a:off x="838199" y="641855"/>
            <a:ext cx="4063869" cy="772107"/>
          </a:xfrm>
          <a:solidFill>
            <a:schemeClr val="tx2"/>
          </a:solidFill>
        </p:spPr>
        <p:txBody>
          <a:bodyPr rtlCol="0"/>
          <a:lstStyle/>
          <a:p>
            <a:pPr rtl="0"/>
            <a:r>
              <a:rPr lang="en-GB" b="1" dirty="0"/>
              <a:t>Key Features</a:t>
            </a:r>
          </a:p>
        </p:txBody>
      </p:sp>
      <p:graphicFrame>
        <p:nvGraphicFramePr>
          <p:cNvPr id="10" name="Content Placeholder 2" descr="Content Placeholder">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39201857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Graphic 11" descr="Wireless with solid fill">
            <a:extLst>
              <a:ext uri="{FF2B5EF4-FFF2-40B4-BE49-F238E27FC236}">
                <a16:creationId xmlns:a16="http://schemas.microsoft.com/office/drawing/2014/main" id="{F2110C71-00D1-4949-9213-38E48FACED0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809126" y="2282759"/>
            <a:ext cx="1061007" cy="1061007"/>
          </a:xfrm>
          <a:prstGeom prst="rect">
            <a:avLst/>
          </a:prstGeom>
        </p:spPr>
      </p:pic>
      <p:pic>
        <p:nvPicPr>
          <p:cNvPr id="14" name="Graphic 13" descr="Processor with solid fill">
            <a:extLst>
              <a:ext uri="{FF2B5EF4-FFF2-40B4-BE49-F238E27FC236}">
                <a16:creationId xmlns:a16="http://schemas.microsoft.com/office/drawing/2014/main" id="{F3D6B7B3-DCDF-47A1-B092-0D8D01630A4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522879" y="2282759"/>
            <a:ext cx="1146241" cy="1146241"/>
          </a:xfrm>
          <a:prstGeom prst="rect">
            <a:avLst/>
          </a:prstGeom>
        </p:spPr>
      </p:pic>
      <p:pic>
        <p:nvPicPr>
          <p:cNvPr id="16" name="Graphic 15" descr="Empty battery with solid fill">
            <a:extLst>
              <a:ext uri="{FF2B5EF4-FFF2-40B4-BE49-F238E27FC236}">
                <a16:creationId xmlns:a16="http://schemas.microsoft.com/office/drawing/2014/main" id="{D988924E-5A5D-4D29-95C0-814C9160BBFA}"/>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174058" y="2282759"/>
            <a:ext cx="1011341" cy="1011341"/>
          </a:xfrm>
          <a:prstGeom prst="rect">
            <a:avLst/>
          </a:prstGeom>
        </p:spPr>
      </p:pic>
      <p:sp>
        <p:nvSpPr>
          <p:cNvPr id="17" name="Isosceles Triangle 16">
            <a:extLst>
              <a:ext uri="{FF2B5EF4-FFF2-40B4-BE49-F238E27FC236}">
                <a16:creationId xmlns:a16="http://schemas.microsoft.com/office/drawing/2014/main" id="{C1168A37-F12A-42E8-A95E-69747461C003}"/>
              </a:ext>
              <a:ext uri="{C183D7F6-B498-43B3-948B-1728B52AA6E4}">
                <adec:decorative xmlns:adec="http://schemas.microsoft.com/office/drawing/2017/decorative" val="1"/>
              </a:ext>
            </a:extLst>
          </p:cNvPr>
          <p:cNvSpPr/>
          <p:nvPr/>
        </p:nvSpPr>
        <p:spPr>
          <a:xfrm rot="10800000">
            <a:off x="4902070" y="627156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4" name="Slide Number Placeholder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rtlCol="0"/>
          <a:lstStyle/>
          <a:p>
            <a:pPr rtl="0"/>
            <a:r>
              <a:rPr lang="en-GB" dirty="0"/>
              <a:t>PAGE </a:t>
            </a:r>
            <a:fld id="{4A9B5881-4007-4345-955A-79C2656F0C49}" type="slidenum">
              <a:rPr lang="en-GB" smtClean="0"/>
              <a:pPr rtl="0"/>
              <a:t>4</a:t>
            </a:fld>
            <a:endParaRPr lang="en-GB" dirty="0"/>
          </a:p>
        </p:txBody>
      </p:sp>
      <p:sp>
        <p:nvSpPr>
          <p:cNvPr id="15" name="!!Rectangle 7">
            <a:extLst>
              <a:ext uri="{FF2B5EF4-FFF2-40B4-BE49-F238E27FC236}">
                <a16:creationId xmlns:a16="http://schemas.microsoft.com/office/drawing/2014/main" id="{14ED939A-2647-9965-DF8D-5E908CA6023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8" name="!!Rectangle 8">
            <a:extLst>
              <a:ext uri="{FF2B5EF4-FFF2-40B4-BE49-F238E27FC236}">
                <a16:creationId xmlns:a16="http://schemas.microsoft.com/office/drawing/2014/main" id="{EB600A37-8C6D-69DC-AA45-E9107498BA66}"/>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Features</a:t>
            </a:r>
          </a:p>
        </p:txBody>
      </p:sp>
      <p:sp>
        <p:nvSpPr>
          <p:cNvPr id="19" name="!!Rectangle 10">
            <a:extLst>
              <a:ext uri="{FF2B5EF4-FFF2-40B4-BE49-F238E27FC236}">
                <a16:creationId xmlns:a16="http://schemas.microsoft.com/office/drawing/2014/main" id="{8F4FAB50-703D-4A70-C4CB-7B596AC1D6AE}"/>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Comparison</a:t>
            </a:r>
          </a:p>
        </p:txBody>
      </p:sp>
      <p:sp>
        <p:nvSpPr>
          <p:cNvPr id="20" name="!!Rectangle 11">
            <a:extLst>
              <a:ext uri="{FF2B5EF4-FFF2-40B4-BE49-F238E27FC236}">
                <a16:creationId xmlns:a16="http://schemas.microsoft.com/office/drawing/2014/main" id="{B3AAB2B1-FF75-30C7-5060-5E1FF441BB82}"/>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Datasheet</a:t>
            </a:r>
          </a:p>
        </p:txBody>
      </p:sp>
    </p:spTree>
    <p:extLst>
      <p:ext uri="{BB962C8B-B14F-4D97-AF65-F5344CB8AC3E}">
        <p14:creationId xmlns:p14="http://schemas.microsoft.com/office/powerpoint/2010/main" val="3879804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dirty="0"/>
              <a:t>Arduino Vs NodeMCU</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278605" y="1090500"/>
            <a:ext cx="5414963" cy="4236340"/>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a:bodyPr>
          <a:lstStyle/>
          <a:p>
            <a:pPr marL="0" indent="0" rtl="0">
              <a:buNone/>
            </a:pPr>
            <a:r>
              <a:rPr lang="en-GB" noProof="1">
                <a:solidFill>
                  <a:schemeClr val="tx2"/>
                </a:solidFill>
              </a:rPr>
              <a:t>Arduino is ideal for beginners and projects that do not require Wi-Fi connectivity or high processing power. It's user-friendly and has extensive community support and accessories.</a:t>
            </a:r>
          </a:p>
          <a:p>
            <a:pPr marL="0" indent="0" rtl="0">
              <a:buNone/>
            </a:pPr>
            <a:endParaRPr lang="en-GB" noProof="1">
              <a:solidFill>
                <a:schemeClr val="tx2"/>
              </a:solidFill>
            </a:endParaRPr>
          </a:p>
          <a:p>
            <a:pPr rtl="0"/>
            <a:r>
              <a:rPr lang="en-GB" noProof="1">
                <a:solidFill>
                  <a:schemeClr val="tx2"/>
                </a:solidFill>
              </a:rPr>
              <a:t>Wifi connectivity. </a:t>
            </a:r>
          </a:p>
          <a:p>
            <a:pPr rtl="0"/>
            <a:r>
              <a:rPr lang="en-GB" noProof="1">
                <a:solidFill>
                  <a:schemeClr val="tx2"/>
                </a:solidFill>
              </a:rPr>
              <a:t>Processing power</a:t>
            </a:r>
          </a:p>
          <a:p>
            <a:pPr rtl="0"/>
            <a:r>
              <a:rPr lang="en-GB" noProof="1">
                <a:solidFill>
                  <a:schemeClr val="tx2"/>
                </a:solidFill>
              </a:rPr>
              <a:t>Power consumption</a:t>
            </a:r>
          </a:p>
          <a:p>
            <a:pPr rtl="0"/>
            <a:r>
              <a:rPr lang="en-GB" noProof="1">
                <a:solidFill>
                  <a:schemeClr val="tx2"/>
                </a:solidFill>
              </a:rPr>
              <a:t>Suitability for IOT</a:t>
            </a:r>
          </a:p>
        </p:txBody>
      </p:sp>
      <p:sp>
        <p:nvSpPr>
          <p:cNvPr id="16" name="Isosceles Triangle 15">
            <a:extLst>
              <a:ext uri="{FF2B5EF4-FFF2-40B4-BE49-F238E27FC236}">
                <a16:creationId xmlns:a16="http://schemas.microsoft.com/office/drawing/2014/main" id="{C2887229-F913-4F63-8EC5-03C72B9082F4}"/>
              </a:ext>
              <a:ext uri="{C183D7F6-B498-43B3-948B-1728B52AA6E4}">
                <adec:decorative xmlns:adec="http://schemas.microsoft.com/office/drawing/2017/decorative" val="1"/>
              </a:ext>
            </a:extLst>
          </p:cNvPr>
          <p:cNvSpPr/>
          <p:nvPr/>
        </p:nvSpPr>
        <p:spPr>
          <a:xfrm rot="10800000">
            <a:off x="7454193" y="627156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5</a:t>
            </a:fld>
            <a:endParaRPr lang="en-GB" dirty="0"/>
          </a:p>
        </p:txBody>
      </p:sp>
      <p:sp>
        <p:nvSpPr>
          <p:cNvPr id="2" name="!!Rectangle 7">
            <a:extLst>
              <a:ext uri="{FF2B5EF4-FFF2-40B4-BE49-F238E27FC236}">
                <a16:creationId xmlns:a16="http://schemas.microsoft.com/office/drawing/2014/main" id="{D9A75315-BAD4-F2B2-1FF3-888F1241226E}"/>
              </a:ext>
              <a:ext uri="{C183D7F6-B498-43B3-948B-1728B52AA6E4}">
                <adec:decorative xmlns:adec="http://schemas.microsoft.com/office/drawing/2017/decorative" val="1"/>
              </a:ext>
            </a:extLst>
          </p:cNvPr>
          <p:cNvSpPr/>
          <p:nvPr/>
        </p:nvSpPr>
        <p:spPr>
          <a:xfrm>
            <a:off x="1152289" y="6562003"/>
            <a:ext cx="2552123" cy="152492"/>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6" name="!!Rectangle 8">
            <a:extLst>
              <a:ext uri="{FF2B5EF4-FFF2-40B4-BE49-F238E27FC236}">
                <a16:creationId xmlns:a16="http://schemas.microsoft.com/office/drawing/2014/main" id="{44BA16DF-BD0B-7787-4345-1EEEA943D337}"/>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Features</a:t>
            </a:r>
          </a:p>
        </p:txBody>
      </p:sp>
      <p:sp>
        <p:nvSpPr>
          <p:cNvPr id="8" name="!!Rectangle 10">
            <a:extLst>
              <a:ext uri="{FF2B5EF4-FFF2-40B4-BE49-F238E27FC236}">
                <a16:creationId xmlns:a16="http://schemas.microsoft.com/office/drawing/2014/main" id="{BB944188-19A0-B2B5-1471-7A6B856BDAB4}"/>
              </a:ext>
              <a:ext uri="{C183D7F6-B498-43B3-948B-1728B52AA6E4}">
                <adec:decorative xmlns:adec="http://schemas.microsoft.com/office/drawing/2017/decorative" val="1"/>
              </a:ext>
            </a:extLst>
          </p:cNvPr>
          <p:cNvSpPr/>
          <p:nvPr/>
        </p:nvSpPr>
        <p:spPr>
          <a:xfrm>
            <a:off x="6249555" y="6354496"/>
            <a:ext cx="2552123" cy="3669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Comparison</a:t>
            </a:r>
          </a:p>
        </p:txBody>
      </p:sp>
      <p:sp>
        <p:nvSpPr>
          <p:cNvPr id="9" name="!!Rectangle 11">
            <a:extLst>
              <a:ext uri="{FF2B5EF4-FFF2-40B4-BE49-F238E27FC236}">
                <a16:creationId xmlns:a16="http://schemas.microsoft.com/office/drawing/2014/main" id="{C9683DC8-609C-9CA0-3196-CBE8A0EEBFB9}"/>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Datasheet</a:t>
            </a:r>
          </a:p>
        </p:txBody>
      </p:sp>
    </p:spTree>
    <p:extLst>
      <p:ext uri="{BB962C8B-B14F-4D97-AF65-F5344CB8AC3E}">
        <p14:creationId xmlns:p14="http://schemas.microsoft.com/office/powerpoint/2010/main" val="3803842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855392-9FED-4979-8AC6-A73037648D43}"/>
              </a:ext>
            </a:extLst>
          </p:cNvPr>
          <p:cNvSpPr>
            <a:spLocks noGrp="1"/>
          </p:cNvSpPr>
          <p:nvPr>
            <p:ph type="title"/>
          </p:nvPr>
        </p:nvSpPr>
        <p:spPr>
          <a:xfrm>
            <a:off x="838199" y="641855"/>
            <a:ext cx="5257801" cy="772107"/>
          </a:xfrm>
          <a:solidFill>
            <a:schemeClr val="tx2"/>
          </a:solidFill>
        </p:spPr>
        <p:txBody>
          <a:bodyPr rtlCol="0"/>
          <a:lstStyle/>
          <a:p>
            <a:pPr rtl="0"/>
            <a:r>
              <a:rPr lang="en-GB" b="1" dirty="0"/>
              <a:t>  Board Comparison</a:t>
            </a:r>
          </a:p>
        </p:txBody>
      </p:sp>
      <p:graphicFrame>
        <p:nvGraphicFramePr>
          <p:cNvPr id="10" name="Content Placeholder 2" descr="Content Placeholder">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20929815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Graphic 11" descr="Processor outline">
            <a:extLst>
              <a:ext uri="{FF2B5EF4-FFF2-40B4-BE49-F238E27FC236}">
                <a16:creationId xmlns:a16="http://schemas.microsoft.com/office/drawing/2014/main" id="{F2110C71-00D1-4949-9213-38E48FACED0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809126" y="2282759"/>
            <a:ext cx="1061007" cy="1061007"/>
          </a:xfrm>
          <a:prstGeom prst="rect">
            <a:avLst/>
          </a:prstGeom>
        </p:spPr>
      </p:pic>
      <p:pic>
        <p:nvPicPr>
          <p:cNvPr id="14" name="Graphic 13" descr="Processor with solid fill">
            <a:extLst>
              <a:ext uri="{FF2B5EF4-FFF2-40B4-BE49-F238E27FC236}">
                <a16:creationId xmlns:a16="http://schemas.microsoft.com/office/drawing/2014/main" id="{F3D6B7B3-DCDF-47A1-B092-0D8D01630A4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522879" y="2282759"/>
            <a:ext cx="1146241" cy="1146241"/>
          </a:xfrm>
          <a:prstGeom prst="rect">
            <a:avLst/>
          </a:prstGeom>
        </p:spPr>
      </p:pic>
      <p:pic>
        <p:nvPicPr>
          <p:cNvPr id="16" name="Graphic 15" descr="Processor outline">
            <a:extLst>
              <a:ext uri="{FF2B5EF4-FFF2-40B4-BE49-F238E27FC236}">
                <a16:creationId xmlns:a16="http://schemas.microsoft.com/office/drawing/2014/main" id="{D988924E-5A5D-4D29-95C0-814C9160BBFA}"/>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74058" y="2282759"/>
            <a:ext cx="1011341" cy="1011341"/>
          </a:xfrm>
          <a:prstGeom prst="rect">
            <a:avLst/>
          </a:prstGeom>
        </p:spPr>
      </p:pic>
      <p:sp>
        <p:nvSpPr>
          <p:cNvPr id="4" name="Slide Number Placeholder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rtlCol="0"/>
          <a:lstStyle/>
          <a:p>
            <a:pPr rtl="0"/>
            <a:r>
              <a:rPr lang="en-GB" dirty="0"/>
              <a:t>PAGE </a:t>
            </a:r>
            <a:fld id="{4A9B5881-4007-4345-955A-79C2656F0C49}" type="slidenum">
              <a:rPr lang="en-GB" smtClean="0"/>
              <a:pPr rtl="0"/>
              <a:t>6</a:t>
            </a:fld>
            <a:endParaRPr lang="en-GB" dirty="0"/>
          </a:p>
        </p:txBody>
      </p:sp>
      <p:sp>
        <p:nvSpPr>
          <p:cNvPr id="2" name="!!Rectangle 7">
            <a:extLst>
              <a:ext uri="{FF2B5EF4-FFF2-40B4-BE49-F238E27FC236}">
                <a16:creationId xmlns:a16="http://schemas.microsoft.com/office/drawing/2014/main" id="{EC85BE3B-3E90-253A-0ECA-B22F79A3CF8F}"/>
              </a:ext>
              <a:ext uri="{C183D7F6-B498-43B3-948B-1728B52AA6E4}">
                <adec:decorative xmlns:adec="http://schemas.microsoft.com/office/drawing/2017/decorative" val="1"/>
              </a:ext>
            </a:extLst>
          </p:cNvPr>
          <p:cNvSpPr/>
          <p:nvPr/>
        </p:nvSpPr>
        <p:spPr>
          <a:xfrm>
            <a:off x="1152289" y="6562003"/>
            <a:ext cx="2552123" cy="152492"/>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3" name="!!Rectangle 8">
            <a:extLst>
              <a:ext uri="{FF2B5EF4-FFF2-40B4-BE49-F238E27FC236}">
                <a16:creationId xmlns:a16="http://schemas.microsoft.com/office/drawing/2014/main" id="{856D3784-2F54-D43A-6659-336A45330FA6}"/>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Features</a:t>
            </a:r>
          </a:p>
        </p:txBody>
      </p:sp>
      <p:sp>
        <p:nvSpPr>
          <p:cNvPr id="6" name="!!Rectangle 10">
            <a:extLst>
              <a:ext uri="{FF2B5EF4-FFF2-40B4-BE49-F238E27FC236}">
                <a16:creationId xmlns:a16="http://schemas.microsoft.com/office/drawing/2014/main" id="{0567F5DD-1238-0D21-CA95-A158B9329A3D}"/>
              </a:ext>
              <a:ext uri="{C183D7F6-B498-43B3-948B-1728B52AA6E4}">
                <adec:decorative xmlns:adec="http://schemas.microsoft.com/office/drawing/2017/decorative" val="1"/>
              </a:ext>
            </a:extLst>
          </p:cNvPr>
          <p:cNvSpPr/>
          <p:nvPr/>
        </p:nvSpPr>
        <p:spPr>
          <a:xfrm>
            <a:off x="6249555" y="6354496"/>
            <a:ext cx="2552123" cy="3669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Comparison</a:t>
            </a:r>
          </a:p>
        </p:txBody>
      </p:sp>
      <p:sp>
        <p:nvSpPr>
          <p:cNvPr id="7" name="!!Rectangle 11">
            <a:extLst>
              <a:ext uri="{FF2B5EF4-FFF2-40B4-BE49-F238E27FC236}">
                <a16:creationId xmlns:a16="http://schemas.microsoft.com/office/drawing/2014/main" id="{2A894C40-50C1-C2D9-30F8-DB0FF0485F95}"/>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Datasheet</a:t>
            </a:r>
          </a:p>
        </p:txBody>
      </p:sp>
      <p:sp>
        <p:nvSpPr>
          <p:cNvPr id="15" name="Isosceles Triangle 14">
            <a:extLst>
              <a:ext uri="{FF2B5EF4-FFF2-40B4-BE49-F238E27FC236}">
                <a16:creationId xmlns:a16="http://schemas.microsoft.com/office/drawing/2014/main" id="{A6180311-D486-AC3D-0385-425857A2A77A}"/>
              </a:ext>
              <a:ext uri="{C183D7F6-B498-43B3-948B-1728B52AA6E4}">
                <adec:decorative xmlns:adec="http://schemas.microsoft.com/office/drawing/2017/decorative" val="1"/>
              </a:ext>
            </a:extLst>
          </p:cNvPr>
          <p:cNvSpPr/>
          <p:nvPr/>
        </p:nvSpPr>
        <p:spPr>
          <a:xfrm rot="10800000">
            <a:off x="7454193" y="627156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549767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6331" r="26331"/>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Applications</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b="1" dirty="0">
                <a:solidFill>
                  <a:schemeClr val="tx2"/>
                </a:solidFill>
              </a:rPr>
              <a:t>Home Automation:</a:t>
            </a:r>
            <a:r>
              <a:rPr lang="en-GB" dirty="0">
                <a:solidFill>
                  <a:schemeClr val="tx2"/>
                </a:solidFill>
              </a:rPr>
              <a:t> Smart lights, thermostats.</a:t>
            </a:r>
          </a:p>
          <a:p>
            <a:pPr marL="457200" lvl="1" indent="0">
              <a:buNone/>
            </a:pPr>
            <a:endParaRPr lang="en-GB" dirty="0">
              <a:solidFill>
                <a:schemeClr val="tx2"/>
              </a:solidFill>
            </a:endParaRPr>
          </a:p>
          <a:p>
            <a:pPr>
              <a:buFont typeface="Arial" panose="020B0604020202020204" pitchFamily="34" charset="0"/>
              <a:buChar char="•"/>
            </a:pPr>
            <a:r>
              <a:rPr lang="en-GB" b="1" dirty="0">
                <a:solidFill>
                  <a:schemeClr val="tx2"/>
                </a:solidFill>
              </a:rPr>
              <a:t>IoT Projects:</a:t>
            </a:r>
            <a:r>
              <a:rPr lang="en-GB" dirty="0">
                <a:solidFill>
                  <a:schemeClr val="tx2"/>
                </a:solidFill>
              </a:rPr>
              <a:t> Sensor networks, data logging.</a:t>
            </a:r>
          </a:p>
          <a:p>
            <a:pPr>
              <a:buFont typeface="Arial" panose="020B0604020202020204" pitchFamily="34" charset="0"/>
              <a:buChar char="•"/>
            </a:pPr>
            <a:endParaRPr lang="en-GB" dirty="0">
              <a:solidFill>
                <a:schemeClr val="tx2"/>
              </a:solidFill>
            </a:endParaRPr>
          </a:p>
          <a:p>
            <a:pPr>
              <a:buFont typeface="Arial" panose="020B0604020202020204" pitchFamily="34" charset="0"/>
              <a:buChar char="•"/>
            </a:pPr>
            <a:r>
              <a:rPr lang="en-GB" b="1" dirty="0">
                <a:solidFill>
                  <a:schemeClr val="tx2"/>
                </a:solidFill>
              </a:rPr>
              <a:t>Prototyping:</a:t>
            </a:r>
            <a:r>
              <a:rPr lang="en-GB" dirty="0">
                <a:solidFill>
                  <a:schemeClr val="tx2"/>
                </a:solidFill>
              </a:rPr>
              <a:t> Rapid development for new products.</a:t>
            </a:r>
          </a:p>
          <a:p>
            <a:pPr>
              <a:buFont typeface="Arial" panose="020B0604020202020204" pitchFamily="34" charset="0"/>
              <a:buChar char="•"/>
            </a:pPr>
            <a:endParaRPr lang="en-GB" dirty="0">
              <a:solidFill>
                <a:schemeClr val="tx2"/>
              </a:solidFill>
            </a:endParaRPr>
          </a:p>
          <a:p>
            <a:pPr>
              <a:buFont typeface="Arial" panose="020B0604020202020204" pitchFamily="34" charset="0"/>
              <a:buChar char="•"/>
            </a:pPr>
            <a:r>
              <a:rPr lang="en-GB" b="1" dirty="0">
                <a:solidFill>
                  <a:schemeClr val="tx2"/>
                </a:solidFill>
              </a:rPr>
              <a:t>DIY Projects:</a:t>
            </a:r>
            <a:r>
              <a:rPr lang="en-GB" dirty="0">
                <a:solidFill>
                  <a:schemeClr val="tx2"/>
                </a:solidFill>
              </a:rPr>
              <a:t> Personal projects for learning and innovation.</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7</a:t>
            </a:fld>
            <a:endParaRPr lang="en-GB" dirty="0"/>
          </a:p>
        </p:txBody>
      </p:sp>
      <p:sp>
        <p:nvSpPr>
          <p:cNvPr id="6" name="!!Rectangle 7">
            <a:extLst>
              <a:ext uri="{FF2B5EF4-FFF2-40B4-BE49-F238E27FC236}">
                <a16:creationId xmlns:a16="http://schemas.microsoft.com/office/drawing/2014/main" id="{302EC294-4679-78AC-BB67-B26F597705FB}"/>
              </a:ext>
              <a:ext uri="{C183D7F6-B498-43B3-948B-1728B52AA6E4}">
                <adec:decorative xmlns:adec="http://schemas.microsoft.com/office/drawing/2017/decorative" val="1"/>
              </a:ext>
            </a:extLst>
          </p:cNvPr>
          <p:cNvSpPr/>
          <p:nvPr/>
        </p:nvSpPr>
        <p:spPr>
          <a:xfrm>
            <a:off x="1152289" y="6562003"/>
            <a:ext cx="2552123" cy="152492"/>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7" name="!!Rectangle 8">
            <a:extLst>
              <a:ext uri="{FF2B5EF4-FFF2-40B4-BE49-F238E27FC236}">
                <a16:creationId xmlns:a16="http://schemas.microsoft.com/office/drawing/2014/main" id="{F731F113-2679-565D-FB31-B91E9102E35F}"/>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Features</a:t>
            </a:r>
          </a:p>
        </p:txBody>
      </p:sp>
      <p:sp>
        <p:nvSpPr>
          <p:cNvPr id="8" name="!!Rectangle 10">
            <a:extLst>
              <a:ext uri="{FF2B5EF4-FFF2-40B4-BE49-F238E27FC236}">
                <a16:creationId xmlns:a16="http://schemas.microsoft.com/office/drawing/2014/main" id="{E4EF9521-EB9E-EC65-4C94-00DCC1436C8E}"/>
              </a:ext>
              <a:ext uri="{C183D7F6-B498-43B3-948B-1728B52AA6E4}">
                <adec:decorative xmlns:adec="http://schemas.microsoft.com/office/drawing/2017/decorative" val="1"/>
              </a:ext>
            </a:extLst>
          </p:cNvPr>
          <p:cNvSpPr/>
          <p:nvPr/>
        </p:nvSpPr>
        <p:spPr>
          <a:xfrm>
            <a:off x="6249555" y="6354496"/>
            <a:ext cx="2552123" cy="3669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Comparison</a:t>
            </a:r>
          </a:p>
        </p:txBody>
      </p:sp>
      <p:sp>
        <p:nvSpPr>
          <p:cNvPr id="9" name="!!Rectangle 11">
            <a:extLst>
              <a:ext uri="{FF2B5EF4-FFF2-40B4-BE49-F238E27FC236}">
                <a16:creationId xmlns:a16="http://schemas.microsoft.com/office/drawing/2014/main" id="{B07FB3CF-3153-83C6-6A40-7BB1E42282FF}"/>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Datasheet</a:t>
            </a:r>
          </a:p>
        </p:txBody>
      </p:sp>
      <p:sp>
        <p:nvSpPr>
          <p:cNvPr id="10" name="Isosceles Triangle 9">
            <a:extLst>
              <a:ext uri="{FF2B5EF4-FFF2-40B4-BE49-F238E27FC236}">
                <a16:creationId xmlns:a16="http://schemas.microsoft.com/office/drawing/2014/main" id="{996D2A18-E30E-9031-F4A8-0CB0CD5CCD2F}"/>
              </a:ext>
              <a:ext uri="{C183D7F6-B498-43B3-948B-1728B52AA6E4}">
                <adec:decorative xmlns:adec="http://schemas.microsoft.com/office/drawing/2017/decorative" val="1"/>
              </a:ext>
            </a:extLst>
          </p:cNvPr>
          <p:cNvSpPr/>
          <p:nvPr/>
        </p:nvSpPr>
        <p:spPr>
          <a:xfrm rot="10800000">
            <a:off x="7454193" y="627156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862907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solidFill>
            <a:schemeClr val="tx2"/>
          </a:solidFill>
        </p:spPr>
        <p:txBody>
          <a:bodyPr rtlCol="0"/>
          <a:lstStyle/>
          <a:p>
            <a:pPr marL="685800" indent="-685800" rtl="0">
              <a:buFont typeface="Arial" panose="020B0604020202020204" pitchFamily="34" charset="0"/>
              <a:buChar char="•"/>
            </a:pPr>
            <a:r>
              <a:rPr lang="en-GB" b="1" dirty="0"/>
              <a:t>Datasheet</a:t>
            </a:r>
            <a:br>
              <a:rPr lang="en-GB" b="1" dirty="0"/>
            </a:br>
            <a:r>
              <a:rPr lang="en-GB" sz="4000" b="1" dirty="0"/>
              <a:t>ESP8266</a:t>
            </a:r>
            <a:br>
              <a:rPr lang="en-GB" sz="4000" b="1" dirty="0"/>
            </a:br>
            <a:br>
              <a:rPr lang="en-GB" sz="4000" b="1" dirty="0"/>
            </a:br>
            <a:r>
              <a:rPr lang="en-GB" sz="4000" b="1" dirty="0"/>
              <a:t>-</a:t>
            </a:r>
            <a:r>
              <a:rPr lang="en-GB" sz="2800" b="1" dirty="0"/>
              <a:t>GPIO pins</a:t>
            </a:r>
            <a:br>
              <a:rPr lang="en-GB" sz="2800" b="1" dirty="0"/>
            </a:br>
            <a:r>
              <a:rPr lang="en-GB" sz="2800" b="1" dirty="0"/>
              <a:t>-3.3v</a:t>
            </a:r>
            <a:br>
              <a:rPr lang="en-GB" sz="2800" b="1" dirty="0"/>
            </a:br>
            <a:r>
              <a:rPr lang="en-GB" sz="2800" b="1" dirty="0"/>
              <a:t>-GND</a:t>
            </a:r>
            <a:br>
              <a:rPr lang="en-GB" sz="2800" b="1" dirty="0"/>
            </a:br>
            <a:r>
              <a:rPr lang="en-GB" sz="2800" b="1" dirty="0"/>
              <a:t>-Analog Pin</a:t>
            </a:r>
            <a:br>
              <a:rPr lang="en-GB" sz="2800" b="1" dirty="0"/>
            </a:br>
            <a:r>
              <a:rPr lang="en-GB" sz="2800" b="1" dirty="0"/>
              <a:t>-Reset and Flash</a:t>
            </a:r>
            <a:br>
              <a:rPr lang="en-GB" sz="2800" b="1" dirty="0"/>
            </a:br>
            <a:r>
              <a:rPr lang="en-GB" sz="2800" b="1" dirty="0"/>
              <a:t>-UART</a:t>
            </a:r>
            <a:br>
              <a:rPr lang="en-GB" sz="2800" b="1" dirty="0"/>
            </a:br>
            <a:endParaRPr lang="en-GB" sz="2800" b="1" dirty="0"/>
          </a:p>
        </p:txBody>
      </p:sp>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8</a:t>
            </a:fld>
            <a:endParaRPr lang="en-GB"/>
          </a:p>
        </p:txBody>
      </p:sp>
      <p:sp>
        <p:nvSpPr>
          <p:cNvPr id="10" name="Isosceles Triangle 9">
            <a:extLst>
              <a:ext uri="{FF2B5EF4-FFF2-40B4-BE49-F238E27FC236}">
                <a16:creationId xmlns:a16="http://schemas.microsoft.com/office/drawing/2014/main" id="{792980D7-ED01-4955-83DB-59BA18C94FBA}"/>
              </a:ext>
              <a:ext uri="{C183D7F6-B498-43B3-948B-1728B52AA6E4}">
                <adec:decorative xmlns:adec="http://schemas.microsoft.com/office/drawing/2017/decorative" val="1"/>
              </a:ext>
            </a:extLst>
          </p:cNvPr>
          <p:cNvSpPr/>
          <p:nvPr/>
        </p:nvSpPr>
        <p:spPr>
          <a:xfrm rot="10800000">
            <a:off x="1000631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12" name="Content Placeholder 11">
            <a:extLst>
              <a:ext uri="{FF2B5EF4-FFF2-40B4-BE49-F238E27FC236}">
                <a16:creationId xmlns:a16="http://schemas.microsoft.com/office/drawing/2014/main" id="{9EEBE2DC-0FF0-79B3-6C47-68490C0F2C2B}"/>
              </a:ext>
            </a:extLst>
          </p:cNvPr>
          <p:cNvPicPr>
            <a:picLocks noGrp="1" noChangeAspect="1"/>
          </p:cNvPicPr>
          <p:nvPr>
            <p:ph idx="1"/>
          </p:nvPr>
        </p:nvPicPr>
        <p:blipFill>
          <a:blip r:embed="rId3"/>
          <a:srcRect/>
          <a:stretch/>
        </p:blipFill>
        <p:spPr>
          <a:xfrm>
            <a:off x="4885267" y="647267"/>
            <a:ext cx="6866466" cy="5423334"/>
          </a:xfrm>
        </p:spPr>
      </p:pic>
      <p:sp>
        <p:nvSpPr>
          <p:cNvPr id="3" name="!!Rectangle 7">
            <a:extLst>
              <a:ext uri="{FF2B5EF4-FFF2-40B4-BE49-F238E27FC236}">
                <a16:creationId xmlns:a16="http://schemas.microsoft.com/office/drawing/2014/main" id="{3FC94296-5BE6-18CB-961A-2920013A12A6}"/>
              </a:ext>
              <a:ext uri="{C183D7F6-B498-43B3-948B-1728B52AA6E4}">
                <adec:decorative xmlns:adec="http://schemas.microsoft.com/office/drawing/2017/decorative" val="1"/>
              </a:ext>
            </a:extLst>
          </p:cNvPr>
          <p:cNvSpPr/>
          <p:nvPr/>
        </p:nvSpPr>
        <p:spPr>
          <a:xfrm>
            <a:off x="1152289" y="6562003"/>
            <a:ext cx="2552123" cy="152492"/>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4" name="!!Rectangle 8">
            <a:extLst>
              <a:ext uri="{FF2B5EF4-FFF2-40B4-BE49-F238E27FC236}">
                <a16:creationId xmlns:a16="http://schemas.microsoft.com/office/drawing/2014/main" id="{F83C8B5F-F7F6-A9D0-158F-F90F765697FF}"/>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Features</a:t>
            </a:r>
          </a:p>
        </p:txBody>
      </p:sp>
      <p:sp>
        <p:nvSpPr>
          <p:cNvPr id="9" name="!!Rectangle 10">
            <a:extLst>
              <a:ext uri="{FF2B5EF4-FFF2-40B4-BE49-F238E27FC236}">
                <a16:creationId xmlns:a16="http://schemas.microsoft.com/office/drawing/2014/main" id="{D44CE84A-BA60-8160-7DBC-4CC37C9BC0ED}"/>
              </a:ext>
              <a:ext uri="{C183D7F6-B498-43B3-948B-1728B52AA6E4}">
                <adec:decorative xmlns:adec="http://schemas.microsoft.com/office/drawing/2017/decorative" val="1"/>
              </a:ext>
            </a:extLst>
          </p:cNvPr>
          <p:cNvSpPr/>
          <p:nvPr/>
        </p:nvSpPr>
        <p:spPr>
          <a:xfrm>
            <a:off x="6249555" y="6562002"/>
            <a:ext cx="2552123" cy="15947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Comparison</a:t>
            </a:r>
          </a:p>
        </p:txBody>
      </p:sp>
      <p:sp>
        <p:nvSpPr>
          <p:cNvPr id="11" name="!!Rectangle 11">
            <a:extLst>
              <a:ext uri="{FF2B5EF4-FFF2-40B4-BE49-F238E27FC236}">
                <a16:creationId xmlns:a16="http://schemas.microsoft.com/office/drawing/2014/main" id="{451D41DA-EA8C-5033-5C22-01090877AD0F}"/>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Datasheet</a:t>
            </a:r>
          </a:p>
        </p:txBody>
      </p:sp>
      <p:sp>
        <p:nvSpPr>
          <p:cNvPr id="13" name="Isosceles Triangle 12">
            <a:extLst>
              <a:ext uri="{FF2B5EF4-FFF2-40B4-BE49-F238E27FC236}">
                <a16:creationId xmlns:a16="http://schemas.microsoft.com/office/drawing/2014/main" id="{519625B0-9805-D610-98CC-DA45FAF69250}"/>
              </a:ext>
              <a:ext uri="{C183D7F6-B498-43B3-948B-1728B52AA6E4}">
                <adec:decorative xmlns:adec="http://schemas.microsoft.com/office/drawing/2017/decorative" val="1"/>
              </a:ext>
            </a:extLst>
          </p:cNvPr>
          <p:cNvSpPr/>
          <p:nvPr/>
        </p:nvSpPr>
        <p:spPr>
          <a:xfrm rot="10800000">
            <a:off x="9934890" y="6270518"/>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6132914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srcRect l="27532" r="27532"/>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6735184" y="2233942"/>
            <a:ext cx="4455579" cy="3798888"/>
          </a:xfrm>
        </p:spPr>
        <p:txBody>
          <a:bodyPr rtlCol="0"/>
          <a:lstStyle/>
          <a:p>
            <a:pPr marL="285750" indent="-285750" rtl="0">
              <a:buFont typeface="Arial" panose="020B0604020202020204" pitchFamily="34" charset="0"/>
              <a:buChar char="•"/>
            </a:pPr>
            <a:r>
              <a:rPr lang="en-GB" sz="2000" spc="0" dirty="0">
                <a:solidFill>
                  <a:schemeClr val="tx2"/>
                </a:solidFill>
              </a:rPr>
              <a:t>Connect ESP8266</a:t>
            </a:r>
          </a:p>
          <a:p>
            <a:pPr marL="285750" indent="-285750" rtl="0">
              <a:buFont typeface="Arial" panose="020B0604020202020204" pitchFamily="34" charset="0"/>
              <a:buChar char="•"/>
            </a:pPr>
            <a:r>
              <a:rPr lang="en-GB" sz="2000" spc="0" dirty="0">
                <a:solidFill>
                  <a:schemeClr val="tx2"/>
                </a:solidFill>
              </a:rPr>
              <a:t>Make sure device is detected</a:t>
            </a:r>
          </a:p>
          <a:p>
            <a:pPr marL="285750" indent="-285750" rtl="0">
              <a:buFont typeface="Arial" panose="020B0604020202020204" pitchFamily="34" charset="0"/>
              <a:buChar char="•"/>
            </a:pPr>
            <a:r>
              <a:rPr lang="en-GB" sz="2000" spc="0" dirty="0">
                <a:solidFill>
                  <a:schemeClr val="tx2"/>
                </a:solidFill>
              </a:rPr>
              <a:t>Setup Boards manager link</a:t>
            </a:r>
          </a:p>
          <a:p>
            <a:pPr marL="285750" indent="-285750" rtl="0">
              <a:buFont typeface="Arial" panose="020B0604020202020204" pitchFamily="34" charset="0"/>
              <a:buChar char="•"/>
            </a:pPr>
            <a:r>
              <a:rPr lang="en-GB" sz="2000" spc="0" dirty="0">
                <a:solidFill>
                  <a:schemeClr val="tx2"/>
                </a:solidFill>
              </a:rPr>
              <a:t>Add esp8266 board from board manager</a:t>
            </a:r>
          </a:p>
          <a:p>
            <a:pPr marL="285750" indent="-285750" rtl="0">
              <a:buFont typeface="Arial" panose="020B0604020202020204" pitchFamily="34" charset="0"/>
              <a:buChar char="•"/>
            </a:pPr>
            <a:r>
              <a:rPr lang="en-GB" sz="2000" spc="0" dirty="0">
                <a:solidFill>
                  <a:schemeClr val="tx2"/>
                </a:solidFill>
              </a:rPr>
              <a:t>Choose port and board</a:t>
            </a:r>
          </a:p>
          <a:p>
            <a:pPr marL="285750" indent="-285750" rtl="0">
              <a:buFont typeface="Arial" panose="020B0604020202020204" pitchFamily="34" charset="0"/>
              <a:buChar char="•"/>
            </a:pPr>
            <a:r>
              <a:rPr lang="en-GB" sz="2000" spc="0" dirty="0">
                <a:solidFill>
                  <a:schemeClr val="tx2"/>
                </a:solidFill>
              </a:rPr>
              <a:t>Upload code</a:t>
            </a:r>
          </a:p>
          <a:p>
            <a:pPr marL="285750" indent="-285750" rtl="0">
              <a:buFont typeface="Arial" panose="020B0604020202020204" pitchFamily="34" charset="0"/>
              <a:buChar char="•"/>
            </a:pPr>
            <a:endParaRPr lang="en-GB" sz="2000" spc="0" dirty="0">
              <a:solidFill>
                <a:schemeClr val="tx2"/>
              </a:solidFill>
            </a:endParaRP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rtlCol="0"/>
          <a:lstStyle/>
          <a:p>
            <a:pPr rtl="0"/>
            <a:fld id="{8C2E478F-E849-4A8C-AF1F-CBCC78A7CBFA}" type="slidenum">
              <a:rPr lang="en-GB" smtClean="0"/>
              <a:pPr rtl="0"/>
              <a:t>9</a:t>
            </a:fld>
            <a:endParaRPr lang="en-GB"/>
          </a:p>
        </p:txBody>
      </p:sp>
      <p:sp>
        <p:nvSpPr>
          <p:cNvPr id="4" name="TextBox 3">
            <a:extLst>
              <a:ext uri="{FF2B5EF4-FFF2-40B4-BE49-F238E27FC236}">
                <a16:creationId xmlns:a16="http://schemas.microsoft.com/office/drawing/2014/main" id="{A9700606-402D-8FB1-B3C3-FBCD26EDFF3A}"/>
              </a:ext>
            </a:extLst>
          </p:cNvPr>
          <p:cNvSpPr txBox="1"/>
          <p:nvPr/>
        </p:nvSpPr>
        <p:spPr>
          <a:xfrm>
            <a:off x="6972300" y="1135856"/>
            <a:ext cx="4455579" cy="769441"/>
          </a:xfrm>
          <a:prstGeom prst="rect">
            <a:avLst/>
          </a:prstGeom>
          <a:solidFill>
            <a:schemeClr val="tx2"/>
          </a:solidFill>
        </p:spPr>
        <p:txBody>
          <a:bodyPr wrap="none" rtlCol="0">
            <a:spAutoFit/>
          </a:bodyPr>
          <a:lstStyle/>
          <a:p>
            <a:r>
              <a:rPr lang="en-GB" sz="4400" b="1" dirty="0">
                <a:solidFill>
                  <a:schemeClr val="bg1"/>
                </a:solidFill>
              </a:rPr>
              <a:t>Setup Arduino IDE</a:t>
            </a:r>
          </a:p>
        </p:txBody>
      </p:sp>
    </p:spTree>
    <p:extLst>
      <p:ext uri="{BB962C8B-B14F-4D97-AF65-F5344CB8AC3E}">
        <p14:creationId xmlns:p14="http://schemas.microsoft.com/office/powerpoint/2010/main" val="1649098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697" y="5036984"/>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i="0" u="none" strike="noStrike" kern="1200" cap="none" spc="0" normalizeH="0" dirty="0">
                <a:ln>
                  <a:noFill/>
                </a:ln>
                <a:solidFill>
                  <a:schemeClr val="tx1"/>
                </a:solidFill>
                <a:effectLst/>
                <a:uLnTx/>
                <a:uFillTx/>
                <a:latin typeface="+mj-lt"/>
                <a:ea typeface="+mn-ea"/>
                <a:cs typeface="+mn-cs"/>
              </a:rPr>
              <a:t>Go to device manager</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843087"/>
            <a:ext cx="5372096" cy="510217"/>
          </a:xfrm>
        </p:spPr>
        <p:txBody>
          <a:bodyPr rtlCol="0"/>
          <a:lstStyle/>
          <a:p>
            <a:pPr rtl="0"/>
            <a:r>
              <a:rPr lang="en-GB" dirty="0"/>
              <a:t>Check for Board</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47700" y="1270399"/>
            <a:ext cx="5372097"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10</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Step 1 : Check Connection</a:t>
            </a:r>
          </a:p>
        </p:txBody>
      </p:sp>
      <p:sp>
        <p:nvSpPr>
          <p:cNvPr id="12" name="Rectangle 11">
            <a:extLst>
              <a:ext uri="{FF2B5EF4-FFF2-40B4-BE49-F238E27FC236}">
                <a16:creationId xmlns:a16="http://schemas.microsoft.com/office/drawing/2014/main" id="{EA4EEDB3-FF07-7137-A770-B1D8E16CFA7C}"/>
              </a:ext>
            </a:extLst>
          </p:cNvPr>
          <p:cNvSpPr/>
          <p:nvPr/>
        </p:nvSpPr>
        <p:spPr>
          <a:xfrm>
            <a:off x="1657350" y="1843087"/>
            <a:ext cx="2578894" cy="4214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DEF36685-ED0E-B654-E61D-F34F448EB904}"/>
              </a:ext>
            </a:extLst>
          </p:cNvPr>
          <p:cNvSpPr/>
          <p:nvPr/>
        </p:nvSpPr>
        <p:spPr>
          <a:xfrm>
            <a:off x="6515100" y="4822031"/>
            <a:ext cx="2221706" cy="2882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9670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697" y="5036984"/>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i="0" u="none" strike="noStrike" kern="1200" cap="none" spc="0" normalizeH="0" dirty="0">
                <a:ln>
                  <a:noFill/>
                </a:ln>
                <a:solidFill>
                  <a:schemeClr val="tx1"/>
                </a:solidFill>
                <a:effectLst/>
                <a:uLnTx/>
                <a:uFillTx/>
                <a:latin typeface="+mj-lt"/>
                <a:ea typeface="+mn-ea"/>
                <a:cs typeface="+mn-cs"/>
              </a:rPr>
              <a:t>Link: github.com/esp8266/Arduino</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843087"/>
            <a:ext cx="5372096" cy="510217"/>
          </a:xfrm>
        </p:spPr>
        <p:txBody>
          <a:bodyPr rtlCol="0"/>
          <a:lstStyle/>
          <a:p>
            <a:pPr rtl="0"/>
            <a:r>
              <a:rPr lang="en-GB" dirty="0"/>
              <a:t>Go to file-&gt;preferences</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492920" y="1270399"/>
            <a:ext cx="5526878"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11</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Step 2 : Setup boards manager</a:t>
            </a:r>
          </a:p>
        </p:txBody>
      </p:sp>
      <p:sp>
        <p:nvSpPr>
          <p:cNvPr id="8" name="Rectangle 7">
            <a:extLst>
              <a:ext uri="{FF2B5EF4-FFF2-40B4-BE49-F238E27FC236}">
                <a16:creationId xmlns:a16="http://schemas.microsoft.com/office/drawing/2014/main" id="{EDB4DAE6-1C8A-3735-363C-57FBBFD5B71B}"/>
              </a:ext>
            </a:extLst>
          </p:cNvPr>
          <p:cNvSpPr/>
          <p:nvPr/>
        </p:nvSpPr>
        <p:spPr>
          <a:xfrm>
            <a:off x="2000250" y="3743325"/>
            <a:ext cx="2857500" cy="30718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676B9F36-463B-2964-29A9-48E95AE28D93}"/>
              </a:ext>
            </a:extLst>
          </p:cNvPr>
          <p:cNvSpPr/>
          <p:nvPr/>
        </p:nvSpPr>
        <p:spPr>
          <a:xfrm>
            <a:off x="6307931" y="5110246"/>
            <a:ext cx="2000250" cy="3618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71244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347134" y="5174141"/>
            <a:ext cx="5672664"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dirty="0">
                <a:solidFill>
                  <a:schemeClr val="tx1"/>
                </a:solidFill>
                <a:ea typeface="+mn-ea"/>
                <a:cs typeface="+mn-cs"/>
              </a:rPr>
              <a:t>Paste link from </a:t>
            </a:r>
            <a:r>
              <a:rPr lang="en-GB" sz="2400" b="1" dirty="0" err="1">
                <a:solidFill>
                  <a:schemeClr val="tx1"/>
                </a:solidFill>
                <a:ea typeface="+mn-ea"/>
                <a:cs typeface="+mn-cs"/>
              </a:rPr>
              <a:t>github</a:t>
            </a:r>
            <a:r>
              <a:rPr lang="en-GB" sz="2400" b="1" dirty="0">
                <a:solidFill>
                  <a:schemeClr val="tx1"/>
                </a:solidFill>
                <a:ea typeface="+mn-ea"/>
                <a:cs typeface="+mn-cs"/>
              </a:rPr>
              <a:t> to “additional boards manager” </a:t>
            </a:r>
            <a:endParaRPr lang="en-GB" sz="2400" b="1" i="0" u="none" strike="noStrike" kern="1200" cap="none" spc="0" normalizeH="0" dirty="0">
              <a:ln>
                <a:noFill/>
              </a:ln>
              <a:solidFill>
                <a:schemeClr val="tx1"/>
              </a:solidFill>
              <a:effectLst/>
              <a:uLnTx/>
              <a:uFillTx/>
              <a:latin typeface="+mj-lt"/>
              <a:ea typeface="+mn-ea"/>
              <a:cs typeface="+mn-cs"/>
            </a:endParaRP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843087"/>
            <a:ext cx="5372096" cy="510217"/>
          </a:xfrm>
        </p:spPr>
        <p:txBody>
          <a:bodyPr rtlCol="0"/>
          <a:lstStyle/>
          <a:p>
            <a:pPr rtl="0"/>
            <a:r>
              <a:rPr lang="en-GB" dirty="0"/>
              <a:t>Go to Tools-&gt; Board-&gt; Boards Manager</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492920" y="1270399"/>
            <a:ext cx="5526878"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12</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Step 2 : Setup boards manager</a:t>
            </a:r>
          </a:p>
        </p:txBody>
      </p:sp>
      <p:sp>
        <p:nvSpPr>
          <p:cNvPr id="8" name="Rectangle 7">
            <a:extLst>
              <a:ext uri="{FF2B5EF4-FFF2-40B4-BE49-F238E27FC236}">
                <a16:creationId xmlns:a16="http://schemas.microsoft.com/office/drawing/2014/main" id="{07062FBC-0B9D-5885-BB39-F0E0D7B05ED7}"/>
              </a:ext>
            </a:extLst>
          </p:cNvPr>
          <p:cNvSpPr/>
          <p:nvPr/>
        </p:nvSpPr>
        <p:spPr>
          <a:xfrm>
            <a:off x="2051050" y="3854450"/>
            <a:ext cx="2743200" cy="228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8C33F65-77BE-37C4-F8E0-90E1E7AB0D18}"/>
              </a:ext>
            </a:extLst>
          </p:cNvPr>
          <p:cNvSpPr/>
          <p:nvPr/>
        </p:nvSpPr>
        <p:spPr>
          <a:xfrm>
            <a:off x="6393920" y="4083050"/>
            <a:ext cx="4616980" cy="7239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21079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347134" y="5071311"/>
            <a:ext cx="5672664"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i="0" u="none" strike="noStrike" kern="1200" cap="none" spc="0" normalizeH="0" dirty="0">
                <a:ln>
                  <a:noFill/>
                </a:ln>
                <a:solidFill>
                  <a:schemeClr val="tx1"/>
                </a:solidFill>
                <a:effectLst/>
                <a:uLnTx/>
                <a:uFillTx/>
                <a:latin typeface="+mj-lt"/>
                <a:ea typeface="+mn-ea"/>
                <a:cs typeface="+mn-cs"/>
              </a:rPr>
              <a:t>Search for esp8266 and Install</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843087"/>
            <a:ext cx="5372096" cy="510217"/>
          </a:xfrm>
        </p:spPr>
        <p:txBody>
          <a:bodyPr rtlCol="0"/>
          <a:lstStyle/>
          <a:p>
            <a:pPr rtl="0"/>
            <a:r>
              <a:rPr lang="en-GB" dirty="0"/>
              <a:t>Go to boards dropdown -&gt;select other board and port</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492920" y="1270399"/>
            <a:ext cx="5526878"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a:xfrm>
            <a:off x="6254748" y="2429505"/>
            <a:ext cx="5672664" cy="3564895"/>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13</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7A591A5-EAF6-1C87-15FB-FB5978A21CE1}"/>
              </a:ext>
            </a:extLst>
          </p:cNvPr>
          <p:cNvSpPr/>
          <p:nvPr/>
        </p:nvSpPr>
        <p:spPr>
          <a:xfrm>
            <a:off x="984250" y="2025650"/>
            <a:ext cx="1752600" cy="19701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07D64F3-8E64-2666-B23E-7906CFFB176E}"/>
              </a:ext>
            </a:extLst>
          </p:cNvPr>
          <p:cNvSpPr/>
          <p:nvPr/>
        </p:nvSpPr>
        <p:spPr>
          <a:xfrm>
            <a:off x="7111998" y="2781300"/>
            <a:ext cx="1784352" cy="1079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2A8CE538-E12A-EC0D-C777-3885DB4E0313}"/>
              </a:ext>
            </a:extLst>
          </p:cNvPr>
          <p:cNvSpPr txBox="1"/>
          <p:nvPr/>
        </p:nvSpPr>
        <p:spPr>
          <a:xfrm>
            <a:off x="647700" y="266128"/>
            <a:ext cx="5812367" cy="584775"/>
          </a:xfrm>
          <a:prstGeom prst="rect">
            <a:avLst/>
          </a:prstGeom>
          <a:solidFill>
            <a:schemeClr val="tx2"/>
          </a:solidFill>
        </p:spPr>
        <p:txBody>
          <a:bodyPr wrap="square" rtlCol="0">
            <a:spAutoFit/>
          </a:bodyPr>
          <a:lstStyle/>
          <a:p>
            <a:r>
              <a:rPr lang="en-GB" sz="3200" b="1" dirty="0">
                <a:solidFill>
                  <a:schemeClr val="bg1"/>
                </a:solidFill>
              </a:rPr>
              <a:t>Step 3 : Choose port and board</a:t>
            </a:r>
          </a:p>
        </p:txBody>
      </p:sp>
    </p:spTree>
    <p:extLst>
      <p:ext uri="{BB962C8B-B14F-4D97-AF65-F5344CB8AC3E}">
        <p14:creationId xmlns:p14="http://schemas.microsoft.com/office/powerpoint/2010/main" val="2324537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347134" y="5174141"/>
            <a:ext cx="5672664"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dirty="0">
                <a:solidFill>
                  <a:schemeClr val="tx1"/>
                </a:solidFill>
                <a:ea typeface="+mn-ea"/>
                <a:cs typeface="+mn-cs"/>
              </a:rPr>
              <a:t>Search for NodeMCU 1.0 and select</a:t>
            </a:r>
            <a:endParaRPr lang="en-GB" sz="2400" b="1" i="0" u="none" strike="noStrike" kern="1200" cap="none" spc="0" normalizeH="0" dirty="0">
              <a:ln>
                <a:noFill/>
              </a:ln>
              <a:solidFill>
                <a:schemeClr val="tx1"/>
              </a:solidFill>
              <a:effectLst/>
              <a:uLnTx/>
              <a:uFillTx/>
              <a:latin typeface="+mj-lt"/>
              <a:ea typeface="+mn-ea"/>
              <a:cs typeface="+mn-cs"/>
            </a:endParaRP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843087"/>
            <a:ext cx="5372096" cy="510217"/>
          </a:xfrm>
        </p:spPr>
        <p:txBody>
          <a:bodyPr rtlCol="0"/>
          <a:lstStyle/>
          <a:p>
            <a:pPr rtl="0"/>
            <a:r>
              <a:rPr lang="en-GB" dirty="0"/>
              <a:t>Click upload to upload your code</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492920" y="1270399"/>
            <a:ext cx="5526878"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a:xfrm>
            <a:off x="6254748" y="2429506"/>
            <a:ext cx="5372097" cy="3314070"/>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14</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299A07A9-2A0A-1681-4779-2C7DC3AA3753}"/>
              </a:ext>
            </a:extLst>
          </p:cNvPr>
          <p:cNvSpPr/>
          <p:nvPr/>
        </p:nvSpPr>
        <p:spPr>
          <a:xfrm>
            <a:off x="6318250" y="2781300"/>
            <a:ext cx="577850" cy="355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7E9138EE-FB9E-2337-FFE6-D958476C6161}"/>
              </a:ext>
            </a:extLst>
          </p:cNvPr>
          <p:cNvSpPr/>
          <p:nvPr/>
        </p:nvSpPr>
        <p:spPr>
          <a:xfrm>
            <a:off x="1524003" y="2781300"/>
            <a:ext cx="3422647" cy="11112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6999CD8E-6FCB-2512-7F43-080AB6EA3779}"/>
              </a:ext>
            </a:extLst>
          </p:cNvPr>
          <p:cNvSpPr txBox="1"/>
          <p:nvPr/>
        </p:nvSpPr>
        <p:spPr>
          <a:xfrm>
            <a:off x="647700" y="266128"/>
            <a:ext cx="5812367" cy="584775"/>
          </a:xfrm>
          <a:prstGeom prst="rect">
            <a:avLst/>
          </a:prstGeom>
          <a:solidFill>
            <a:schemeClr val="tx2"/>
          </a:solidFill>
        </p:spPr>
        <p:txBody>
          <a:bodyPr wrap="square" rtlCol="0">
            <a:spAutoFit/>
          </a:bodyPr>
          <a:lstStyle/>
          <a:p>
            <a:r>
              <a:rPr lang="en-GB" sz="3200" b="1" dirty="0">
                <a:solidFill>
                  <a:schemeClr val="bg1"/>
                </a:solidFill>
              </a:rPr>
              <a:t>Step 3 : Choose port and board</a:t>
            </a:r>
          </a:p>
        </p:txBody>
      </p:sp>
    </p:spTree>
    <p:extLst>
      <p:ext uri="{BB962C8B-B14F-4D97-AF65-F5344CB8AC3E}">
        <p14:creationId xmlns:p14="http://schemas.microsoft.com/office/powerpoint/2010/main" val="1018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7532" r="27532"/>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589211"/>
            <a:ext cx="6273800" cy="833663"/>
          </a:xfrm>
          <a:solidFill>
            <a:schemeClr val="tx2"/>
          </a:solidFill>
        </p:spPr>
        <p:txBody>
          <a:bodyPr rtlCol="0"/>
          <a:lstStyle/>
          <a:p>
            <a:pPr rtl="0"/>
            <a:r>
              <a:rPr lang="en-GB" b="1" dirty="0"/>
              <a:t> Blinking LED</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rtl="0"/>
            <a:endParaRPr lang="en-GB" dirty="0">
              <a:solidFill>
                <a:schemeClr val="tx2"/>
              </a:solidFill>
            </a:endParaRPr>
          </a:p>
          <a:p>
            <a:pPr rtl="0"/>
            <a:r>
              <a:rPr lang="en-GB" dirty="0">
                <a:solidFill>
                  <a:schemeClr val="tx2"/>
                </a:solidFill>
              </a:rPr>
              <a:t>Your first task will be to build a blinking LED setup using NodeMCU</a:t>
            </a:r>
          </a:p>
          <a:p>
            <a:pPr rtl="0"/>
            <a:r>
              <a:rPr lang="en-GB" dirty="0">
                <a:solidFill>
                  <a:schemeClr val="tx2"/>
                </a:solidFill>
              </a:rPr>
              <a:t>The most basic code one can write in Arduino</a:t>
            </a:r>
          </a:p>
          <a:p>
            <a:pPr rtl="0"/>
            <a:r>
              <a:rPr lang="en-GB" noProof="1">
                <a:solidFill>
                  <a:schemeClr val="tx2"/>
                </a:solidFill>
              </a:rPr>
              <a:t>Blinking LED is practically printing “Hello world” but for hardware</a:t>
            </a:r>
          </a:p>
          <a:p>
            <a:pPr rtl="0"/>
            <a:r>
              <a:rPr lang="en-GB" noProof="1">
                <a:solidFill>
                  <a:schemeClr val="tx2"/>
                </a:solidFill>
              </a:rPr>
              <a:t>The NodeMCU has an inbuilt led that can be accessed using LED_BUILTIN or GPIO 2.</a:t>
            </a:r>
          </a:p>
          <a:p>
            <a:pPr rtl="0"/>
            <a:endParaRPr lang="en-GB" noProof="1">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15</a:t>
            </a:fld>
            <a:endParaRPr lang="en-GB" dirty="0"/>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890101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370" r="20370"/>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589211"/>
            <a:ext cx="6273800" cy="833663"/>
          </a:xfrm>
          <a:solidFill>
            <a:schemeClr val="tx2"/>
          </a:solidFill>
        </p:spPr>
        <p:txBody>
          <a:bodyPr rtlCol="0"/>
          <a:lstStyle/>
          <a:p>
            <a:pPr rtl="0"/>
            <a:r>
              <a:rPr lang="en-GB" b="1" dirty="0"/>
              <a:t> Blinking LED</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rtl="0"/>
            <a:r>
              <a:rPr lang="en-GB" noProof="1">
                <a:solidFill>
                  <a:schemeClr val="tx2"/>
                </a:solidFill>
              </a:rPr>
              <a:t>To understand basic Arduino programming, you need to understand the basic structure.</a:t>
            </a:r>
          </a:p>
          <a:p>
            <a:pPr rtl="0"/>
            <a:r>
              <a:rPr lang="en-GB" noProof="1">
                <a:solidFill>
                  <a:schemeClr val="tx2"/>
                </a:solidFill>
              </a:rPr>
              <a:t>Libraries are used by the #include keyword and are at the top of program</a:t>
            </a:r>
          </a:p>
          <a:p>
            <a:pPr rtl="0"/>
            <a:r>
              <a:rPr lang="en-GB" noProof="1">
                <a:solidFill>
                  <a:schemeClr val="tx2"/>
                </a:solidFill>
              </a:rPr>
              <a:t>void setup{}</a:t>
            </a:r>
          </a:p>
          <a:p>
            <a:pPr marL="0" indent="0" rtl="0">
              <a:buNone/>
            </a:pPr>
            <a:r>
              <a:rPr lang="en-GB" noProof="1">
                <a:solidFill>
                  <a:schemeClr val="tx2"/>
                </a:solidFill>
              </a:rPr>
              <a:t>	void setup{} is used to define pinModes, setup 	serial communication, initialize libraries, and 	setting initial state</a:t>
            </a:r>
          </a:p>
          <a:p>
            <a:pPr rtl="0"/>
            <a:r>
              <a:rPr lang="en-GB" noProof="1">
                <a:solidFill>
                  <a:schemeClr val="tx2"/>
                </a:solidFill>
              </a:rPr>
              <a:t>void loop{}</a:t>
            </a:r>
          </a:p>
          <a:p>
            <a:pPr marL="0" indent="0" rtl="0">
              <a:buNone/>
            </a:pPr>
            <a:r>
              <a:rPr lang="en-GB" noProof="1">
                <a:solidFill>
                  <a:schemeClr val="tx2"/>
                </a:solidFill>
              </a:rPr>
              <a:t>	The loop() function contains the main code that 	runs repeatedly after the setup() function has 	completed. Used to read sensors, control 	actuators, implement logic and control</a:t>
            </a:r>
          </a:p>
          <a:p>
            <a:pPr marL="0" indent="0" rtl="0">
              <a:buNone/>
            </a:pPr>
            <a:endParaRPr lang="en-GB" noProof="1">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16</a:t>
            </a:fld>
            <a:endParaRPr lang="en-GB" dirty="0"/>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852459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69254" y="697933"/>
            <a:ext cx="4989396" cy="1551573"/>
          </a:xfrm>
        </p:spPr>
        <p:txBody>
          <a:bodyPr rtlCol="0"/>
          <a:lstStyle/>
          <a:p>
            <a:pPr rtl="0"/>
            <a:r>
              <a:rPr lang="en-GB" b="1" dirty="0">
                <a:solidFill>
                  <a:schemeClr val="tx2"/>
                </a:solidFill>
              </a:rPr>
              <a:t>Simple Blinking LED</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9" y="2338160"/>
            <a:ext cx="4989396" cy="2705327"/>
          </a:xfrm>
        </p:spPr>
        <p:txBody>
          <a:bodyPr rtlCol="0"/>
          <a:lstStyle/>
          <a:p>
            <a:pPr rtl="0"/>
            <a:r>
              <a:rPr lang="en-GB" dirty="0">
                <a:solidFill>
                  <a:schemeClr val="tx2"/>
                </a:solidFill>
              </a:rPr>
              <a:t>This simple code toggles the built-in LED on and off with a one-second interval, demonstrating how to control digital outputs on the ESP8266. By using pinMode and digitalWrite, you can manipulate the state of pins to create various interactive projects.</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17</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1300311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26988" y="3854335"/>
            <a:ext cx="4052887" cy="615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dirty="0">
                <a:solidFill>
                  <a:schemeClr val="tx1"/>
                </a:solidFill>
                <a:ea typeface="+mn-ea"/>
                <a:cs typeface="+mn-cs"/>
              </a:rPr>
              <a:t>Setup and loop</a:t>
            </a:r>
            <a:endParaRPr lang="en-GB" sz="2400" b="1" i="0" u="none" strike="noStrike" kern="1200" cap="none" spc="0" normalizeH="0" dirty="0">
              <a:ln>
                <a:noFill/>
              </a:ln>
              <a:solidFill>
                <a:schemeClr val="tx1"/>
              </a:solidFill>
              <a:effectLst/>
              <a:uLnTx/>
              <a:uFillTx/>
              <a:latin typeface="+mj-lt"/>
              <a:ea typeface="+mn-ea"/>
              <a:cs typeface="+mn-cs"/>
            </a:endParaRP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5962654" y="1004148"/>
            <a:ext cx="5372096" cy="510217"/>
          </a:xfrm>
        </p:spPr>
        <p:txBody>
          <a:bodyPr rtlCol="0"/>
          <a:lstStyle/>
          <a:p>
            <a:pPr rtl="0"/>
            <a:r>
              <a:rPr lang="en-GB" dirty="0"/>
              <a:t>User defined functions</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493357" y="1813630"/>
            <a:ext cx="3256297" cy="2212958"/>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18</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812367" cy="584775"/>
          </a:xfrm>
          <a:prstGeom prst="rect">
            <a:avLst/>
          </a:prstGeom>
          <a:solidFill>
            <a:schemeClr val="tx2"/>
          </a:solidFill>
        </p:spPr>
        <p:txBody>
          <a:bodyPr wrap="square" rtlCol="0">
            <a:spAutoFit/>
          </a:bodyPr>
          <a:lstStyle/>
          <a:p>
            <a:r>
              <a:rPr lang="en-GB" sz="3200" b="1" dirty="0">
                <a:solidFill>
                  <a:schemeClr val="bg1"/>
                </a:solidFill>
              </a:rPr>
              <a:t>Modification: SOS signal</a:t>
            </a:r>
          </a:p>
        </p:txBody>
      </p:sp>
      <p:pic>
        <p:nvPicPr>
          <p:cNvPr id="8" name="Picture Placeholder 14">
            <a:extLst>
              <a:ext uri="{FF2B5EF4-FFF2-40B4-BE49-F238E27FC236}">
                <a16:creationId xmlns:a16="http://schemas.microsoft.com/office/drawing/2014/main" id="{2E139F49-CED1-A873-0BC0-B19D6C2EEDE7}"/>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4325252" y="1855051"/>
            <a:ext cx="3909268" cy="3289506"/>
          </a:xfrm>
          <a:prstGeom prst="rect">
            <a:avLst/>
          </a:prstGeom>
          <a:solidFill>
            <a:schemeClr val="bg1">
              <a:lumMod val="95000"/>
            </a:schemeClr>
          </a:solidFill>
        </p:spPr>
      </p:pic>
      <p:pic>
        <p:nvPicPr>
          <p:cNvPr id="17" name="Picture Placeholder 14">
            <a:extLst>
              <a:ext uri="{FF2B5EF4-FFF2-40B4-BE49-F238E27FC236}">
                <a16:creationId xmlns:a16="http://schemas.microsoft.com/office/drawing/2014/main" id="{B5EA7C4A-8084-6E72-9E6C-471EC8F8BFE8}"/>
              </a:ext>
              <a:ext uri="{C183D7F6-B498-43B3-948B-1728B52AA6E4}">
                <adec:decorative xmlns:adec="http://schemas.microsoft.com/office/drawing/2017/decorative" val="1"/>
              </a:ext>
            </a:extLst>
          </p:cNvPr>
          <p:cNvPicPr>
            <a:picLocks noChangeAspect="1"/>
          </p:cNvPicPr>
          <p:nvPr/>
        </p:nvPicPr>
        <p:blipFill>
          <a:blip r:embed="rId5"/>
          <a:srcRect/>
          <a:stretch/>
        </p:blipFill>
        <p:spPr>
          <a:xfrm>
            <a:off x="8334532" y="1855051"/>
            <a:ext cx="3748931" cy="3243811"/>
          </a:xfrm>
          <a:prstGeom prst="rect">
            <a:avLst/>
          </a:prstGeom>
          <a:solidFill>
            <a:schemeClr val="bg1">
              <a:lumMod val="95000"/>
            </a:schemeClr>
          </a:solidFill>
        </p:spPr>
      </p:pic>
    </p:spTree>
    <p:extLst>
      <p:ext uri="{BB962C8B-B14F-4D97-AF65-F5344CB8AC3E}">
        <p14:creationId xmlns:p14="http://schemas.microsoft.com/office/powerpoint/2010/main" val="3099452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589211"/>
            <a:ext cx="6273800" cy="833663"/>
          </a:xfrm>
          <a:solidFill>
            <a:schemeClr val="tx2"/>
          </a:solidFill>
        </p:spPr>
        <p:txBody>
          <a:bodyPr rtlCol="0"/>
          <a:lstStyle/>
          <a:p>
            <a:pPr rtl="0"/>
            <a:r>
              <a:rPr lang="en-GB" b="1" dirty="0"/>
              <a:t> Serial Monitor</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normAutofit/>
          </a:bodyPr>
          <a:lstStyle/>
          <a:p>
            <a:pPr rtl="0"/>
            <a:r>
              <a:rPr lang="en-GB" noProof="1">
                <a:solidFill>
                  <a:schemeClr val="tx2"/>
                </a:solidFill>
              </a:rPr>
              <a:t>The Serial Monitor is a feature in the Arduino IDE that allows you to send and receive data between your Arduino board and your computer.</a:t>
            </a:r>
          </a:p>
          <a:p>
            <a:pPr rtl="0"/>
            <a:r>
              <a:rPr lang="en-GB" noProof="1">
                <a:solidFill>
                  <a:schemeClr val="tx2"/>
                </a:solidFill>
              </a:rPr>
              <a:t>Commonly used for debugging, displaying sensor readings, and communicating with the Arduino.</a:t>
            </a:r>
          </a:p>
          <a:p>
            <a:pPr rtl="0"/>
            <a:r>
              <a:rPr lang="en-GB" noProof="1">
                <a:solidFill>
                  <a:schemeClr val="tx2"/>
                </a:solidFill>
              </a:rPr>
              <a:t>Initialize using Serial.begin(baudRate);</a:t>
            </a:r>
          </a:p>
          <a:p>
            <a:pPr rtl="0"/>
            <a:r>
              <a:rPr lang="en-GB" noProof="1">
                <a:solidFill>
                  <a:schemeClr val="tx2"/>
                </a:solidFill>
              </a:rPr>
              <a:t>Serial.print(): Prints data without a new line.</a:t>
            </a:r>
          </a:p>
          <a:p>
            <a:pPr rtl="0"/>
            <a:r>
              <a:rPr lang="en-GB" noProof="1">
                <a:solidFill>
                  <a:schemeClr val="tx2"/>
                </a:solidFill>
              </a:rPr>
              <a:t>Serial.println(): Prints data followed by a new line.</a:t>
            </a:r>
          </a:p>
          <a:p>
            <a:pPr rtl="0"/>
            <a:r>
              <a:rPr lang="en-GB" noProof="1">
                <a:solidFill>
                  <a:schemeClr val="tx2"/>
                </a:solidFill>
              </a:rPr>
              <a:t>Read using  Serial.read() and  Serial.available()</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19</a:t>
            </a:fld>
            <a:endParaRPr lang="en-GB" dirty="0"/>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348666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69254" y="697933"/>
            <a:ext cx="4989396" cy="1551573"/>
          </a:xfrm>
        </p:spPr>
        <p:txBody>
          <a:bodyPr rtlCol="0"/>
          <a:lstStyle/>
          <a:p>
            <a:pPr rtl="0"/>
            <a:r>
              <a:rPr lang="en-GB" b="1" dirty="0">
                <a:solidFill>
                  <a:schemeClr val="tx2"/>
                </a:solidFill>
              </a:rPr>
              <a:t>Blink LED using commands</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9" y="2338160"/>
            <a:ext cx="4989396" cy="2705327"/>
          </a:xfrm>
        </p:spPr>
        <p:txBody>
          <a:bodyPr rtlCol="0"/>
          <a:lstStyle/>
          <a:p>
            <a:pPr rtl="0"/>
            <a:r>
              <a:rPr lang="en-GB" dirty="0">
                <a:solidFill>
                  <a:schemeClr val="tx2"/>
                </a:solidFill>
              </a:rPr>
              <a:t>This simple code toggles the built-in LED on and off with a one-second interval, demonstrating how to control digital outputs on the ESP8266. By using pinMode and digitalWrite, you can manipulate the state of pins to create various interactive projects.</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20</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9037"/>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296465" y="904775"/>
            <a:ext cx="6609674" cy="5028076"/>
          </a:xfrm>
        </p:spPr>
      </p:pic>
    </p:spTree>
    <p:extLst>
      <p:ext uri="{BB962C8B-B14F-4D97-AF65-F5344CB8AC3E}">
        <p14:creationId xmlns:p14="http://schemas.microsoft.com/office/powerpoint/2010/main" val="251203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2" name="Picture 11" descr="A close up of a device&#10;&#10;Description automatically generated">
            <a:extLst>
              <a:ext uri="{FF2B5EF4-FFF2-40B4-BE49-F238E27FC236}">
                <a16:creationId xmlns:a16="http://schemas.microsoft.com/office/drawing/2014/main" id="{CABF3061-4C8A-CCAB-AC37-505DB64FF160}"/>
              </a:ext>
            </a:extLst>
          </p:cNvPr>
          <p:cNvPicPr>
            <a:picLocks noChangeAspect="1"/>
          </p:cNvPicPr>
          <p:nvPr/>
        </p:nvPicPr>
        <p:blipFill>
          <a:blip r:embed="rId3"/>
          <a:stretch>
            <a:fillRect/>
          </a:stretch>
        </p:blipFill>
        <p:spPr>
          <a:xfrm>
            <a:off x="0" y="0"/>
            <a:ext cx="9249878" cy="6840306"/>
          </a:xfrm>
          <a:prstGeom prst="rect">
            <a:avLst/>
          </a:prstGeom>
        </p:spPr>
      </p:pic>
      <p:sp>
        <p:nvSpPr>
          <p:cNvPr id="13" name="Rectangle 12">
            <a:extLst>
              <a:ext uri="{FF2B5EF4-FFF2-40B4-BE49-F238E27FC236}">
                <a16:creationId xmlns:a16="http://schemas.microsoft.com/office/drawing/2014/main" id="{3D97FD29-3BFA-353A-11D0-E913801F2AD6}"/>
              </a:ext>
            </a:extLst>
          </p:cNvPr>
          <p:cNvSpPr/>
          <p:nvPr/>
        </p:nvSpPr>
        <p:spPr>
          <a:xfrm>
            <a:off x="4624939" y="1514225"/>
            <a:ext cx="7074569" cy="411961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4942071" y="955832"/>
            <a:ext cx="4989396" cy="1551573"/>
          </a:xfrm>
        </p:spPr>
        <p:txBody>
          <a:bodyPr rtlCol="0"/>
          <a:lstStyle/>
          <a:p>
            <a:pPr rtl="0"/>
            <a:r>
              <a:rPr lang="en-GB" b="1" dirty="0"/>
              <a:t>Ultrasonic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4942071" y="2638448"/>
            <a:ext cx="6019813" cy="2705327"/>
          </a:xfrm>
        </p:spPr>
        <p:txBody>
          <a:bodyPr rtlCol="0"/>
          <a:lstStyle/>
          <a:p>
            <a:pPr rtl="0"/>
            <a:r>
              <a:rPr lang="en-GB" dirty="0"/>
              <a:t>An ultrasonic sensor measures distance by using ultrasonic waves. It emits a sound wave at a frequency above the range of human hearing and measures the time it takes for the sound to bounce back from an object.</a:t>
            </a:r>
          </a:p>
          <a:p>
            <a:pPr rtl="0"/>
            <a:r>
              <a:rPr lang="en-GB" dirty="0"/>
              <a:t>It relies on transmission, reception and distance calculation</a:t>
            </a:r>
          </a:p>
          <a:p>
            <a:pPr rtl="0"/>
            <a:r>
              <a:rPr lang="en-GB" dirty="0"/>
              <a:t>Pin config is VCC, TRIG, ECHO, AND GND</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21</a:t>
            </a:fld>
            <a:endParaRPr lang="en-GB"/>
          </a:p>
        </p:txBody>
      </p:sp>
    </p:spTree>
    <p:extLst>
      <p:ext uri="{BB962C8B-B14F-4D97-AF65-F5344CB8AC3E}">
        <p14:creationId xmlns:p14="http://schemas.microsoft.com/office/powerpoint/2010/main" val="2480101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98129" y="1200150"/>
            <a:ext cx="4989396" cy="710266"/>
          </a:xfrm>
        </p:spPr>
        <p:txBody>
          <a:bodyPr rtlCol="0"/>
          <a:lstStyle/>
          <a:p>
            <a:pPr rtl="0"/>
            <a:r>
              <a:rPr lang="en-GB" b="1" dirty="0">
                <a:solidFill>
                  <a:schemeClr val="tx2"/>
                </a:solidFill>
              </a:rPr>
              <a:t>How it works:</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9" y="2098307"/>
            <a:ext cx="4989396" cy="3628725"/>
          </a:xfrm>
        </p:spPr>
        <p:txBody>
          <a:bodyPr rtlCol="0">
            <a:normAutofit/>
          </a:bodyPr>
          <a:lstStyle/>
          <a:p>
            <a:pPr rtl="0"/>
            <a:r>
              <a:rPr lang="en-GB" dirty="0">
                <a:solidFill>
                  <a:schemeClr val="tx2"/>
                </a:solidFill>
              </a:rPr>
              <a:t>The sensor's transmitter (trigger pin) sends a high-frequency ultrasonic pulse.</a:t>
            </a:r>
          </a:p>
          <a:p>
            <a:pPr rtl="0"/>
            <a:r>
              <a:rPr lang="en-GB" dirty="0">
                <a:solidFill>
                  <a:schemeClr val="tx2"/>
                </a:solidFill>
              </a:rPr>
              <a:t>The ultrasonic pulse travels through the air.</a:t>
            </a:r>
          </a:p>
          <a:p>
            <a:pPr rtl="0"/>
            <a:r>
              <a:rPr lang="en-GB" dirty="0">
                <a:solidFill>
                  <a:schemeClr val="tx2"/>
                </a:solidFill>
              </a:rPr>
              <a:t>When it hits an object, it reflects back towards the sensor.</a:t>
            </a:r>
          </a:p>
          <a:p>
            <a:pPr rtl="0"/>
            <a:r>
              <a:rPr lang="en-GB" dirty="0">
                <a:solidFill>
                  <a:schemeClr val="tx2"/>
                </a:solidFill>
              </a:rPr>
              <a:t>The sensor's receiver (echo pin) detects the reflected wave.</a:t>
            </a:r>
          </a:p>
          <a:p>
            <a:pPr rtl="0"/>
            <a:r>
              <a:rPr lang="en-GB" dirty="0">
                <a:solidFill>
                  <a:schemeClr val="tx2"/>
                </a:solidFill>
              </a:rPr>
              <a:t>The echo pin goes HIGH and stays HIGH for the duration of the time it takes for the pulse to travel to the object and back.</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22</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96465" y="760396"/>
            <a:ext cx="6609673" cy="5303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727032"/>
            <a:ext cx="3776778" cy="1130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549467" y="1200150"/>
            <a:ext cx="6159997" cy="4639377"/>
          </a:xfrm>
        </p:spPr>
      </p:pic>
    </p:spTree>
    <p:extLst>
      <p:ext uri="{BB962C8B-B14F-4D97-AF65-F5344CB8AC3E}">
        <p14:creationId xmlns:p14="http://schemas.microsoft.com/office/powerpoint/2010/main" val="4130634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69254" y="697933"/>
            <a:ext cx="4989396" cy="1551573"/>
          </a:xfrm>
        </p:spPr>
        <p:txBody>
          <a:bodyPr rtlCol="0"/>
          <a:lstStyle/>
          <a:p>
            <a:pPr rtl="0"/>
            <a:r>
              <a:rPr lang="en-GB" b="1" dirty="0">
                <a:solidFill>
                  <a:schemeClr val="tx2"/>
                </a:solidFill>
              </a:rPr>
              <a:t>Distance calculation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9" y="2338160"/>
            <a:ext cx="4989396" cy="2705327"/>
          </a:xfrm>
        </p:spPr>
        <p:txBody>
          <a:bodyPr rtlCol="0">
            <a:normAutofit/>
          </a:bodyPr>
          <a:lstStyle/>
          <a:p>
            <a:pPr rtl="0"/>
            <a:r>
              <a:rPr lang="en-GB" dirty="0">
                <a:solidFill>
                  <a:schemeClr val="tx2"/>
                </a:solidFill>
              </a:rPr>
              <a:t>The speed of sound in air is approximately 343 meters per second (0.0343 cm/</a:t>
            </a:r>
            <a:r>
              <a:rPr lang="en-GB" dirty="0" err="1">
                <a:solidFill>
                  <a:schemeClr val="tx2"/>
                </a:solidFill>
              </a:rPr>
              <a:t>μs</a:t>
            </a:r>
            <a:r>
              <a:rPr lang="en-GB" dirty="0">
                <a:solidFill>
                  <a:schemeClr val="tx2"/>
                </a:solidFill>
              </a:rPr>
              <a:t>).</a:t>
            </a:r>
          </a:p>
          <a:p>
            <a:pPr rtl="0"/>
            <a:r>
              <a:rPr lang="en-GB" dirty="0">
                <a:solidFill>
                  <a:schemeClr val="tx2"/>
                </a:solidFill>
              </a:rPr>
              <a:t>Distance is calculated using the formula:</a:t>
            </a:r>
          </a:p>
          <a:p>
            <a:pPr rtl="0"/>
            <a:r>
              <a:rPr lang="en-GB" dirty="0">
                <a:solidFill>
                  <a:schemeClr val="tx2"/>
                </a:solidFill>
              </a:rPr>
              <a:t>Distance=(Time taken × Speed of Sound)/2</a:t>
            </a:r>
          </a:p>
          <a:p>
            <a:pPr rtl="0"/>
            <a:r>
              <a:rPr lang="en-GB" dirty="0">
                <a:solidFill>
                  <a:schemeClr val="tx2"/>
                </a:solidFill>
              </a:rPr>
              <a:t>The division by 2 accounts for the pulse traveling to the object and back.</a:t>
            </a:r>
          </a:p>
          <a:p>
            <a:pPr rtl="0"/>
            <a:r>
              <a:rPr lang="fr-FR" dirty="0">
                <a:solidFill>
                  <a:schemeClr val="tx2"/>
                </a:solidFill>
              </a:rPr>
              <a:t>Distance =  (time in μs×0.0343 cm/</a:t>
            </a:r>
            <a:r>
              <a:rPr lang="fr-FR" dirty="0" err="1">
                <a:solidFill>
                  <a:schemeClr val="tx2"/>
                </a:solidFill>
              </a:rPr>
              <a:t>μs</a:t>
            </a:r>
            <a:r>
              <a:rPr lang="fr-FR" dirty="0">
                <a:solidFill>
                  <a:schemeClr val="tx2"/>
                </a:solidFill>
              </a:rPr>
              <a:t>​)/2</a:t>
            </a:r>
            <a:endParaRPr lang="en-GB" dirty="0">
              <a:solidFill>
                <a:schemeClr val="tx2"/>
              </a:solidFill>
            </a:endParaRP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23</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
        <p:nvSpPr>
          <p:cNvPr id="11" name="Rectangle 3">
            <a:extLst>
              <a:ext uri="{FF2B5EF4-FFF2-40B4-BE49-F238E27FC236}">
                <a16:creationId xmlns:a16="http://schemas.microsoft.com/office/drawing/2014/main" id="{157DBDBC-9461-02E3-A15A-DBED9FD114A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Distance=2Time×Speed of Sound​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8753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Distance calculation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By sending an ultrasonic pulse and measuring the time it takes for the echo to return, the distance to an object can be calculated and displayed on the Serial Monitor.</a:t>
            </a:r>
          </a:p>
          <a:p>
            <a:pPr rtl="0"/>
            <a:r>
              <a:rPr lang="en-GB" dirty="0">
                <a:solidFill>
                  <a:schemeClr val="tx2"/>
                </a:solidFill>
              </a:rPr>
              <a:t>Trigger sensor</a:t>
            </a:r>
          </a:p>
          <a:p>
            <a:pPr rtl="0"/>
            <a:r>
              <a:rPr lang="en-GB" dirty="0">
                <a:solidFill>
                  <a:schemeClr val="tx2"/>
                </a:solidFill>
              </a:rPr>
              <a:t>Measure echo duration</a:t>
            </a:r>
          </a:p>
          <a:p>
            <a:pPr rtl="0"/>
            <a:r>
              <a:rPr lang="en-GB" dirty="0">
                <a:solidFill>
                  <a:schemeClr val="tx2"/>
                </a:solidFill>
              </a:rPr>
              <a:t>Calculate distance</a:t>
            </a:r>
          </a:p>
          <a:p>
            <a:pPr rtl="0"/>
            <a:r>
              <a:rPr lang="en-GB" dirty="0">
                <a:solidFill>
                  <a:schemeClr val="tx2"/>
                </a:solidFill>
              </a:rPr>
              <a:t>Display distance</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24</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1356822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5904" r="5904"/>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589211"/>
            <a:ext cx="6273800" cy="833663"/>
          </a:xfrm>
          <a:solidFill>
            <a:schemeClr val="tx2"/>
          </a:solidFill>
        </p:spPr>
        <p:txBody>
          <a:bodyPr rtlCol="0"/>
          <a:lstStyle/>
          <a:p>
            <a:pPr rtl="0"/>
            <a:r>
              <a:rPr lang="en-GB" b="1" dirty="0"/>
              <a:t>MQ sensors</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normAutofit/>
          </a:bodyPr>
          <a:lstStyle/>
          <a:p>
            <a:pPr rtl="0"/>
            <a:r>
              <a:rPr lang="en-GB" noProof="1">
                <a:solidFill>
                  <a:schemeClr val="tx2"/>
                </a:solidFill>
              </a:rPr>
              <a:t>Working Principle</a:t>
            </a:r>
          </a:p>
          <a:p>
            <a:pPr rtl="0"/>
            <a:r>
              <a:rPr lang="en-GB" noProof="1">
                <a:solidFill>
                  <a:schemeClr val="tx2"/>
                </a:solidFill>
              </a:rPr>
              <a:t>Heating the Sensing ElementHeater Coil: Brings the sensor to an optimal temperature for detecting gases. </a:t>
            </a:r>
          </a:p>
          <a:p>
            <a:pPr rtl="0"/>
            <a:r>
              <a:rPr lang="en-GB" noProof="1">
                <a:solidFill>
                  <a:schemeClr val="tx2"/>
                </a:solidFill>
              </a:rPr>
              <a:t>The sensing element interacts with the gas molecules. The presence of target gases alters the resistance of the chemical layer on the sensing element.</a:t>
            </a:r>
          </a:p>
          <a:p>
            <a:pPr rtl="0"/>
            <a:r>
              <a:rPr lang="en-GB" noProof="1">
                <a:solidFill>
                  <a:schemeClr val="tx2"/>
                </a:solidFill>
              </a:rPr>
              <a:t>The change in resistance is converted into an analog signal.</a:t>
            </a:r>
          </a:p>
          <a:p>
            <a:pPr rtl="0"/>
            <a:r>
              <a:rPr lang="en-GB" noProof="1">
                <a:solidFill>
                  <a:schemeClr val="tx2"/>
                </a:solidFill>
              </a:rPr>
              <a:t>The analog signal can be read and processed by a microcontroller to determine gas concentration.</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25</a:t>
            </a:fld>
            <a:endParaRPr lang="en-GB" dirty="0"/>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1521588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Types of MQ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MQ sensors are a series of gas sensors used for detecting various gases in the air.</a:t>
            </a:r>
          </a:p>
          <a:p>
            <a:pPr rtl="0"/>
            <a:r>
              <a:rPr lang="en-GB" dirty="0">
                <a:solidFill>
                  <a:schemeClr val="tx2"/>
                </a:solidFill>
              </a:rPr>
              <a:t>We will be using MQ-2 sensor in the following session.</a:t>
            </a:r>
          </a:p>
          <a:p>
            <a:pPr rtl="0"/>
            <a:r>
              <a:rPr lang="en-GB" dirty="0">
                <a:solidFill>
                  <a:schemeClr val="tx2"/>
                </a:solidFill>
              </a:rPr>
              <a:t>MQ-2 Detects: LPG, Methane, Hydrogen, Smoke</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26</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1526817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Analog pin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The ESP8266 has only one ADC pin, </a:t>
            </a:r>
            <a:r>
              <a:rPr lang="en-GB" dirty="0" err="1">
                <a:solidFill>
                  <a:schemeClr val="tx2"/>
                </a:solidFill>
              </a:rPr>
              <a:t>labeled</a:t>
            </a:r>
            <a:r>
              <a:rPr lang="en-GB" dirty="0">
                <a:solidFill>
                  <a:schemeClr val="tx2"/>
                </a:solidFill>
              </a:rPr>
              <a:t> as A0 or ADC0.</a:t>
            </a:r>
          </a:p>
          <a:p>
            <a:pPr rtl="0"/>
            <a:r>
              <a:rPr lang="en-GB" dirty="0">
                <a:solidFill>
                  <a:schemeClr val="tx2"/>
                </a:solidFill>
              </a:rPr>
              <a:t>The ADC on the ESP8266 is a 10-bit ADC. This means it can represent the input voltage with 1024 discrete levels, ranging from 0 to 1023.</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27</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233203" y="642938"/>
            <a:ext cx="6534013" cy="5493975"/>
          </a:xfrm>
        </p:spPr>
      </p:pic>
    </p:spTree>
    <p:extLst>
      <p:ext uri="{BB962C8B-B14F-4D97-AF65-F5344CB8AC3E}">
        <p14:creationId xmlns:p14="http://schemas.microsoft.com/office/powerpoint/2010/main" val="2744037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MQ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 The </a:t>
            </a:r>
            <a:r>
              <a:rPr lang="en-GB" dirty="0" err="1">
                <a:solidFill>
                  <a:schemeClr val="tx2"/>
                </a:solidFill>
              </a:rPr>
              <a:t>analogRead</a:t>
            </a:r>
            <a:r>
              <a:rPr lang="en-GB" dirty="0">
                <a:solidFill>
                  <a:schemeClr val="tx2"/>
                </a:solidFill>
              </a:rPr>
              <a:t>(</a:t>
            </a:r>
            <a:r>
              <a:rPr lang="en-GB" dirty="0" err="1">
                <a:solidFill>
                  <a:schemeClr val="tx2"/>
                </a:solidFill>
              </a:rPr>
              <a:t>mqPin</a:t>
            </a:r>
            <a:r>
              <a:rPr lang="en-GB" dirty="0">
                <a:solidFill>
                  <a:schemeClr val="tx2"/>
                </a:solidFill>
              </a:rPr>
              <a:t>) function reads the </a:t>
            </a:r>
            <a:r>
              <a:rPr lang="en-GB" dirty="0" err="1">
                <a:solidFill>
                  <a:schemeClr val="tx2"/>
                </a:solidFill>
              </a:rPr>
              <a:t>analog</a:t>
            </a:r>
            <a:r>
              <a:rPr lang="en-GB" dirty="0">
                <a:solidFill>
                  <a:schemeClr val="tx2"/>
                </a:solidFill>
              </a:rPr>
              <a:t> value from the sensor.</a:t>
            </a:r>
          </a:p>
          <a:p>
            <a:pPr rtl="0"/>
            <a:endParaRPr lang="en-GB" dirty="0">
              <a:solidFill>
                <a:schemeClr val="tx2"/>
              </a:solidFill>
            </a:endParaRPr>
          </a:p>
          <a:p>
            <a:pPr rtl="0"/>
            <a:r>
              <a:rPr lang="en-GB" dirty="0">
                <a:solidFill>
                  <a:schemeClr val="tx2"/>
                </a:solidFill>
              </a:rPr>
              <a:t>The sensor measures voltage in scale of 0 to 1023 so dividing it by 1023 gives it range of 0 to 1</a:t>
            </a:r>
          </a:p>
          <a:p>
            <a:pPr rtl="0"/>
            <a:endParaRPr lang="en-GB" dirty="0">
              <a:solidFill>
                <a:schemeClr val="tx2"/>
              </a:solidFill>
            </a:endParaRPr>
          </a:p>
          <a:p>
            <a:pPr rtl="0"/>
            <a:r>
              <a:rPr lang="en-GB" dirty="0">
                <a:solidFill>
                  <a:schemeClr val="tx2"/>
                </a:solidFill>
              </a:rPr>
              <a:t>The gas value is measured.</a:t>
            </a:r>
          </a:p>
          <a:p>
            <a:pPr rtl="0"/>
            <a:r>
              <a:rPr lang="en-GB" dirty="0">
                <a:solidFill>
                  <a:srgbClr val="FF0000"/>
                </a:solidFill>
              </a:rPr>
              <a:t>Modify this code to display warning when gas value is high.</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28</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1939400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End of </a:t>
            </a:r>
            <a:br>
              <a:rPr lang="en-GB" b="1" dirty="0">
                <a:latin typeface="Abadi" panose="020F0502020204030204" pitchFamily="34" charset="0"/>
              </a:rPr>
            </a:br>
            <a:r>
              <a:rPr lang="en-GB" b="1" dirty="0">
                <a:latin typeface="Abadi" panose="020F0502020204030204" pitchFamily="34" charset="0"/>
              </a:rPr>
              <a:t>Day 1</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a:t>
            </a:r>
            <a:r>
              <a:rPr lang="en-GB" b="1" dirty="0"/>
              <a:t>KURC</a:t>
            </a:r>
            <a:r>
              <a:rPr lang="en-GB" dirty="0"/>
              <a:t> in collaboration with </a:t>
            </a:r>
            <a:r>
              <a:rPr lang="en-GB" b="1" dirty="0"/>
              <a:t>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rtl="0"/>
              <a:t>29</a:t>
            </a:fld>
            <a:endParaRPr lang="en-GB"/>
          </a:p>
        </p:txBody>
      </p:sp>
    </p:spTree>
    <p:extLst>
      <p:ext uri="{BB962C8B-B14F-4D97-AF65-F5344CB8AC3E}">
        <p14:creationId xmlns:p14="http://schemas.microsoft.com/office/powerpoint/2010/main" val="2527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3067474_TF34098415_Win32" id="{535F4AC4-97FA-4442-A64D-293C1CA63B89}" vid="{21BC394D-4FED-43BA-AAD9-43B127AC16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7B5194-E537-408E-9CFF-66A6141D5DE3}">
  <ds:schemaRefs>
    <ds:schemaRef ds:uri="http://www.w3.org/XML/1998/namespace"/>
    <ds:schemaRef ds:uri="http://purl.org/dc/terms/"/>
    <ds:schemaRef ds:uri="16c05727-aa75-4e4a-9b5f-8a80a1165891"/>
    <ds:schemaRef ds:uri="http://purl.org/dc/dcmitype/"/>
    <ds:schemaRef ds:uri="http://purl.org/dc/elements/1.1/"/>
    <ds:schemaRef ds:uri="http://schemas.microsoft.com/office/2006/documentManagement/types"/>
    <ds:schemaRef ds:uri="230e9df3-be65-4c73-a93b-d1236ebd677e"/>
    <ds:schemaRef ds:uri="http://schemas.microsoft.com/office/infopath/2007/PartnerControls"/>
    <ds:schemaRef ds:uri="http://schemas.microsoft.com/office/2006/metadata/properties"/>
    <ds:schemaRef ds:uri="http://schemas.openxmlformats.org/package/2006/metadata/core-properties"/>
    <ds:schemaRef ds:uri="71af3243-3dd4-4a8d-8c0d-dd76da1f02a5"/>
    <ds:schemaRef ds:uri="http://schemas.microsoft.com/sharepoint/v3"/>
  </ds:schemaRefs>
</ds:datastoreItem>
</file>

<file path=customXml/itemProps2.xml><?xml version="1.0" encoding="utf-8"?>
<ds:datastoreItem xmlns:ds="http://schemas.openxmlformats.org/officeDocument/2006/customXml" ds:itemID="{4FCFB5EA-1DDA-4423-A8FC-85579F36DE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9969FA-0C19-40F2-9B6F-EADA7B231A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Classic corporate teach a course with animation</Template>
  <TotalTime>2084</TotalTime>
  <Words>1502</Words>
  <Application>Microsoft Office PowerPoint</Application>
  <PresentationFormat>Widescreen</PresentationFormat>
  <Paragraphs>224</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Abadi</vt:lpstr>
      <vt:lpstr>Arial</vt:lpstr>
      <vt:lpstr>Calibri</vt:lpstr>
      <vt:lpstr>Calibri Light</vt:lpstr>
      <vt:lpstr>Wingdings</vt:lpstr>
      <vt:lpstr>Office Theme</vt:lpstr>
      <vt:lpstr>IOT Workshop</vt:lpstr>
      <vt:lpstr>Course Outline</vt:lpstr>
      <vt:lpstr>What is  NodeMCU</vt:lpstr>
      <vt:lpstr>Key Features</vt:lpstr>
      <vt:lpstr>Arduino Vs NodeMCU</vt:lpstr>
      <vt:lpstr>  Board Comparison</vt:lpstr>
      <vt:lpstr>Applications</vt:lpstr>
      <vt:lpstr>Datasheet ESP8266  -GPIO pins -3.3v -GND -Analog Pin -Reset and Flash -UART </vt:lpstr>
      <vt:lpstr>PowerPoint Presentation</vt:lpstr>
      <vt:lpstr>Go to device manager</vt:lpstr>
      <vt:lpstr>Link: github.com/esp8266/Arduino</vt:lpstr>
      <vt:lpstr>Paste link from github to “additional boards manager” </vt:lpstr>
      <vt:lpstr>Search for esp8266 and Install</vt:lpstr>
      <vt:lpstr>Search for NodeMCU 1.0 and select</vt:lpstr>
      <vt:lpstr> Blinking LED</vt:lpstr>
      <vt:lpstr> Blinking LED</vt:lpstr>
      <vt:lpstr>Simple Blinking LED</vt:lpstr>
      <vt:lpstr>Setup and loop</vt:lpstr>
      <vt:lpstr> Serial Monitor</vt:lpstr>
      <vt:lpstr>Blink LED using commands</vt:lpstr>
      <vt:lpstr>Ultrasonic sensor</vt:lpstr>
      <vt:lpstr>How it works:</vt:lpstr>
      <vt:lpstr>Distance calculation</vt:lpstr>
      <vt:lpstr>Distance calculation</vt:lpstr>
      <vt:lpstr>MQ sensors</vt:lpstr>
      <vt:lpstr>Types of MQ sensor</vt:lpstr>
      <vt:lpstr>Analog pin</vt:lpstr>
      <vt:lpstr>MQ sensor</vt:lpstr>
      <vt:lpstr>End of  Day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23</cp:revision>
  <dcterms:created xsi:type="dcterms:W3CDTF">2024-06-14T15:50:46Z</dcterms:created>
  <dcterms:modified xsi:type="dcterms:W3CDTF">2024-06-30T16:23:57Z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